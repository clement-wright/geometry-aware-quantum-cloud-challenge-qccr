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320FF5-F463-42F3-8CA8-52FD15076B27}">
  <a:tblStyle styleId="{83320FF5-F463-42F3-8CA8-52FD15076B2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None/>
              <a:defRPr b="1" i="0" sz="4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None/>
              <a:defRPr b="1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None/>
              <a:defRPr b="1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None/>
              <a:defRPr b="1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None/>
              <a:defRPr b="1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None/>
              <a:defRPr b="1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None/>
              <a:defRPr b="1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None/>
              <a:defRPr b="1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None/>
              <a:defRPr b="1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nter"/>
              <a:buNone/>
              <a:defRPr b="1" i="0" sz="4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nter"/>
              <a:buNone/>
              <a:defRPr b="1" sz="4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nter"/>
              <a:buNone/>
              <a:defRPr b="1" sz="4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nter"/>
              <a:buNone/>
              <a:defRPr b="1" sz="4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nter"/>
              <a:buNone/>
              <a:defRPr b="1" sz="4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nter"/>
              <a:buNone/>
              <a:defRPr b="1" sz="4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nter"/>
              <a:buNone/>
              <a:defRPr b="1" sz="4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nter"/>
              <a:buNone/>
              <a:defRPr b="1" sz="4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nter"/>
              <a:buNone/>
              <a:defRPr b="1" sz="4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Inter"/>
              <a:buChar char="•"/>
              <a:defRPr b="0" i="0" sz="2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2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685800" y="714375"/>
            <a:ext cx="7429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4D3E7"/>
                </a:solidFill>
              </a:rPr>
              <a:t>QCCR  •  RESEARCH PRESENTATION</a:t>
            </a:r>
            <a:endParaRPr/>
          </a:p>
        </p:txBody>
      </p:sp>
      <p:sp>
        <p:nvSpPr>
          <p:cNvPr id="33" name="Google Shape;33;p8"/>
          <p:cNvSpPr/>
          <p:nvPr/>
        </p:nvSpPr>
        <p:spPr>
          <a:xfrm>
            <a:off x="685800" y="1381125"/>
            <a:ext cx="7620000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75">
                <a:solidFill>
                  <a:srgbClr val="F6F9FF"/>
                </a:solidFill>
              </a:rPr>
              <a:t>GEOMETRY-AWARE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75">
                <a:solidFill>
                  <a:srgbClr val="F6F9FF"/>
                </a:solidFill>
              </a:rPr>
              <a:t>QUANTUM CLOUD</a:t>
            </a:r>
            <a:endParaRPr/>
          </a:p>
        </p:txBody>
      </p:sp>
      <p:sp>
        <p:nvSpPr>
          <p:cNvPr id="34" name="Google Shape;34;p8"/>
          <p:cNvSpPr/>
          <p:nvPr/>
        </p:nvSpPr>
        <p:spPr>
          <a:xfrm>
            <a:off x="714375" y="3352800"/>
            <a:ext cx="7143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6F9FF"/>
                </a:solidFill>
              </a:rPr>
              <a:t>Getting a better Bell pair</a:t>
            </a:r>
            <a:endParaRPr/>
          </a:p>
        </p:txBody>
      </p:sp>
      <p:sp>
        <p:nvSpPr>
          <p:cNvPr id="35" name="Google Shape;35;p8"/>
          <p:cNvSpPr/>
          <p:nvPr/>
        </p:nvSpPr>
        <p:spPr>
          <a:xfrm>
            <a:off x="714375" y="3981450"/>
            <a:ext cx="7048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A8B8D0"/>
                </a:solidFill>
              </a:rPr>
              <a:t>Routing, noise, and the cost of throwing away attempts</a:t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723900" y="5257800"/>
            <a:ext cx="20288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54D3E7"/>
                </a:solidFill>
              </a:rPr>
              <a:t>01  MAKE</a:t>
            </a:r>
            <a:endParaRPr/>
          </a:p>
        </p:txBody>
      </p:sp>
      <p:cxnSp>
        <p:nvCxnSpPr>
          <p:cNvPr id="37" name="Google Shape;37;p8"/>
          <p:cNvCxnSpPr/>
          <p:nvPr/>
        </p:nvCxnSpPr>
        <p:spPr>
          <a:xfrm>
            <a:off x="723900" y="5715000"/>
            <a:ext cx="1895475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8"/>
          <p:cNvSpPr/>
          <p:nvPr/>
        </p:nvSpPr>
        <p:spPr>
          <a:xfrm>
            <a:off x="3028950" y="5257800"/>
            <a:ext cx="20288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BAA0FF"/>
                </a:solidFill>
              </a:rPr>
              <a:t>02  BREAK</a:t>
            </a:r>
            <a:endParaRPr/>
          </a:p>
        </p:txBody>
      </p:sp>
      <p:cxnSp>
        <p:nvCxnSpPr>
          <p:cNvPr id="39" name="Google Shape;39;p8"/>
          <p:cNvCxnSpPr/>
          <p:nvPr/>
        </p:nvCxnSpPr>
        <p:spPr>
          <a:xfrm>
            <a:off x="3028950" y="5715000"/>
            <a:ext cx="1895475" cy="0"/>
          </a:xfrm>
          <a:prstGeom prst="straightConnector1">
            <a:avLst/>
          </a:prstGeom>
          <a:noFill/>
          <a:ln cap="flat" cmpd="sng" w="28575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8"/>
          <p:cNvSpPr/>
          <p:nvPr/>
        </p:nvSpPr>
        <p:spPr>
          <a:xfrm>
            <a:off x="5334000" y="5257800"/>
            <a:ext cx="20288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7CE4B0"/>
                </a:solidFill>
              </a:rPr>
              <a:t>03  PROTECT</a:t>
            </a:r>
            <a:endParaRPr/>
          </a:p>
        </p:txBody>
      </p:sp>
      <p:cxnSp>
        <p:nvCxnSpPr>
          <p:cNvPr id="41" name="Google Shape;41;p8"/>
          <p:cNvCxnSpPr/>
          <p:nvPr/>
        </p:nvCxnSpPr>
        <p:spPr>
          <a:xfrm>
            <a:off x="5334000" y="5715000"/>
            <a:ext cx="1895475" cy="0"/>
          </a:xfrm>
          <a:prstGeom prst="straightConnector1">
            <a:avLst/>
          </a:prstGeom>
          <a:noFill/>
          <a:ln cap="flat" cmpd="sng" w="28575">
            <a:solidFill>
              <a:srgbClr val="7CE4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8"/>
          <p:cNvCxnSpPr/>
          <p:nvPr/>
        </p:nvCxnSpPr>
        <p:spPr>
          <a:xfrm rot="-1106097">
            <a:off x="8995444" y="1609725"/>
            <a:ext cx="963862" cy="0"/>
          </a:xfrm>
          <a:prstGeom prst="straightConnector1">
            <a:avLst/>
          </a:prstGeom>
          <a:noFill/>
          <a:ln cap="flat" cmpd="sng" w="2857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8"/>
          <p:cNvCxnSpPr/>
          <p:nvPr/>
        </p:nvCxnSpPr>
        <p:spPr>
          <a:xfrm rot="1862503">
            <a:off x="9848604" y="1766888"/>
            <a:ext cx="1200641" cy="0"/>
          </a:xfrm>
          <a:prstGeom prst="straightConnector1">
            <a:avLst/>
          </a:prstGeom>
          <a:noFill/>
          <a:ln cap="flat" cmpd="sng" w="2857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8"/>
          <p:cNvCxnSpPr/>
          <p:nvPr/>
        </p:nvCxnSpPr>
        <p:spPr>
          <a:xfrm rot="4015307">
            <a:off x="10601306" y="2624138"/>
            <a:ext cx="1190663" cy="0"/>
          </a:xfrm>
          <a:prstGeom prst="straightConnector1">
            <a:avLst/>
          </a:prstGeom>
          <a:noFill/>
          <a:ln cap="flat" cmpd="sng" w="2857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8"/>
          <p:cNvCxnSpPr/>
          <p:nvPr/>
        </p:nvCxnSpPr>
        <p:spPr>
          <a:xfrm rot="4919452">
            <a:off x="9110852" y="2405063"/>
            <a:ext cx="1914146" cy="0"/>
          </a:xfrm>
          <a:prstGeom prst="straightConnector1">
            <a:avLst/>
          </a:prstGeom>
          <a:noFill/>
          <a:ln cap="flat" cmpd="sng" w="2857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8"/>
          <p:cNvCxnSpPr/>
          <p:nvPr/>
        </p:nvCxnSpPr>
        <p:spPr>
          <a:xfrm rot="4193245">
            <a:off x="8652407" y="3648075"/>
            <a:ext cx="1440387" cy="0"/>
          </a:xfrm>
          <a:prstGeom prst="straightConnector1">
            <a:avLst/>
          </a:prstGeom>
          <a:noFill/>
          <a:ln cap="flat" cmpd="sng" w="2857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8"/>
          <p:cNvCxnSpPr/>
          <p:nvPr/>
        </p:nvCxnSpPr>
        <p:spPr>
          <a:xfrm rot="622908">
            <a:off x="9609866" y="4438650"/>
            <a:ext cx="1268543" cy="0"/>
          </a:xfrm>
          <a:prstGeom prst="straightConnector1">
            <a:avLst/>
          </a:prstGeom>
          <a:noFill/>
          <a:ln cap="flat" cmpd="sng" w="2857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" name="Google Shape;48;p8"/>
          <p:cNvCxnSpPr/>
          <p:nvPr/>
        </p:nvCxnSpPr>
        <p:spPr>
          <a:xfrm rot="3629310">
            <a:off x="10573688" y="5057775"/>
            <a:ext cx="1160175" cy="0"/>
          </a:xfrm>
          <a:prstGeom prst="straightConnector1">
            <a:avLst/>
          </a:prstGeom>
          <a:noFill/>
          <a:ln cap="flat" cmpd="sng" w="2857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8"/>
          <p:cNvCxnSpPr/>
          <p:nvPr/>
        </p:nvCxnSpPr>
        <p:spPr>
          <a:xfrm rot="5386304">
            <a:off x="10239366" y="4367213"/>
            <a:ext cx="2390794" cy="0"/>
          </a:xfrm>
          <a:prstGeom prst="straightConnector1">
            <a:avLst/>
          </a:prstGeom>
          <a:noFill/>
          <a:ln cap="flat" cmpd="sng" w="2857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8"/>
          <p:cNvSpPr/>
          <p:nvPr/>
        </p:nvSpPr>
        <p:spPr>
          <a:xfrm>
            <a:off x="8877300" y="1619250"/>
            <a:ext cx="285750" cy="285750"/>
          </a:xfrm>
          <a:prstGeom prst="ellipse">
            <a:avLst/>
          </a:prstGeom>
          <a:solidFill>
            <a:srgbClr val="FFCA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8"/>
          <p:cNvSpPr/>
          <p:nvPr/>
        </p:nvSpPr>
        <p:spPr>
          <a:xfrm>
            <a:off x="9791700" y="1314450"/>
            <a:ext cx="285750" cy="285750"/>
          </a:xfrm>
          <a:prstGeom prst="ellipse">
            <a:avLst/>
          </a:prstGeom>
          <a:solidFill>
            <a:srgbClr val="BAA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10820400" y="1933575"/>
            <a:ext cx="285750" cy="285750"/>
          </a:xfrm>
          <a:prstGeom prst="ellipse">
            <a:avLst/>
          </a:prstGeom>
          <a:solidFill>
            <a:srgbClr val="BAA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"/>
          <p:cNvSpPr/>
          <p:nvPr/>
        </p:nvSpPr>
        <p:spPr>
          <a:xfrm>
            <a:off x="11287125" y="3028950"/>
            <a:ext cx="285750" cy="285750"/>
          </a:xfrm>
          <a:prstGeom prst="ellipse">
            <a:avLst/>
          </a:prstGeom>
          <a:solidFill>
            <a:srgbClr val="BAA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10058400" y="3209925"/>
            <a:ext cx="285750" cy="28575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8982075" y="2828925"/>
            <a:ext cx="285750" cy="28575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8"/>
          <p:cNvSpPr/>
          <p:nvPr/>
        </p:nvSpPr>
        <p:spPr>
          <a:xfrm>
            <a:off x="9477375" y="4181475"/>
            <a:ext cx="285750" cy="285750"/>
          </a:xfrm>
          <a:prstGeom prst="ellipse">
            <a:avLst/>
          </a:prstGeom>
          <a:solidFill>
            <a:srgbClr val="BAA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8"/>
          <p:cNvSpPr/>
          <p:nvPr/>
        </p:nvSpPr>
        <p:spPr>
          <a:xfrm>
            <a:off x="10725150" y="4410075"/>
            <a:ext cx="285750" cy="285750"/>
          </a:xfrm>
          <a:prstGeom prst="ellipse">
            <a:avLst/>
          </a:prstGeom>
          <a:solidFill>
            <a:srgbClr val="BAA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/>
          <p:nvPr/>
        </p:nvSpPr>
        <p:spPr>
          <a:xfrm>
            <a:off x="11296650" y="5419725"/>
            <a:ext cx="285750" cy="285750"/>
          </a:xfrm>
          <a:prstGeom prst="ellipse">
            <a:avLst/>
          </a:prstGeom>
          <a:solidFill>
            <a:srgbClr val="FFCA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"/>
          <p:cNvSpPr/>
          <p:nvPr/>
        </p:nvSpPr>
        <p:spPr>
          <a:xfrm>
            <a:off x="7639050" y="5257800"/>
            <a:ext cx="202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CA83"/>
                </a:solidFill>
              </a:rPr>
              <a:t>04  INNOVATE</a:t>
            </a:r>
            <a:endParaRPr>
              <a:solidFill>
                <a:srgbClr val="FFCA83"/>
              </a:solidFill>
            </a:endParaRPr>
          </a:p>
        </p:txBody>
      </p:sp>
      <p:cxnSp>
        <p:nvCxnSpPr>
          <p:cNvPr id="60" name="Google Shape;60;p8"/>
          <p:cNvCxnSpPr/>
          <p:nvPr/>
        </p:nvCxnSpPr>
        <p:spPr>
          <a:xfrm>
            <a:off x="7639050" y="5715000"/>
            <a:ext cx="1895400" cy="0"/>
          </a:xfrm>
          <a:prstGeom prst="straightConnector1">
            <a:avLst/>
          </a:prstGeom>
          <a:noFill/>
          <a:ln cap="flat" cmpd="sng" w="28575">
            <a:solidFill>
              <a:srgbClr val="FFCA8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2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6F9FF"/>
                </a:solidFill>
              </a:rPr>
              <a:t>We measure the pair, the work, and the retries</a:t>
            </a:r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628650" y="1304925"/>
            <a:ext cx="10896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A8B8D0"/>
                </a:solidFill>
              </a:rPr>
              <a:t>We test a shared quantum state with three measurement settings: XX, YY, and ZZ.</a:t>
            </a:r>
            <a:endParaRPr/>
          </a:p>
        </p:txBody>
      </p:sp>
      <p:cxnSp>
        <p:nvCxnSpPr>
          <p:cNvPr id="69" name="Google Shape;69;p9"/>
          <p:cNvCxnSpPr/>
          <p:nvPr/>
        </p:nvCxnSpPr>
        <p:spPr>
          <a:xfrm>
            <a:off x="628650" y="6305550"/>
            <a:ext cx="10896600" cy="0"/>
          </a:xfrm>
          <a:prstGeom prst="straightConnector1">
            <a:avLst/>
          </a:prstGeom>
          <a:noFill/>
          <a:ln cap="flat" cmpd="sng" w="95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9"/>
          <p:cNvSpPr/>
          <p:nvPr/>
        </p:nvSpPr>
        <p:spPr>
          <a:xfrm>
            <a:off x="11049000" y="6448425"/>
            <a:ext cx="476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8B8D0"/>
                </a:solidFill>
              </a:rPr>
              <a:t>2</a:t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647700" y="2057400"/>
            <a:ext cx="5238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6F9FF"/>
                </a:solidFill>
              </a:rPr>
              <a:t>What the measurements should show</a:t>
            </a:r>
            <a:endParaRPr/>
          </a:p>
        </p:txBody>
      </p:sp>
      <p:graphicFrame>
        <p:nvGraphicFramePr>
          <p:cNvPr id="72" name="Google Shape;72;p9"/>
          <p:cNvGraphicFramePr/>
          <p:nvPr/>
        </p:nvGraphicFramePr>
        <p:xfrm>
          <a:off x="666750" y="261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{83320FF5-F463-42F3-8CA8-52FD15076B27}</a:tableStyleId>
              </a:tblPr>
              <a:tblGrid>
                <a:gridCol w="1095375"/>
                <a:gridCol w="4181475"/>
              </a:tblGrid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6F9FF"/>
                          </a:solidFill>
                        </a:rPr>
                        <a:t>Basis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1" lang="en-US" sz="1725">
                          <a:solidFill>
                            <a:srgbClr val="F6F9FF"/>
                          </a:solidFill>
                        </a:rPr>
                        <a:t>Ideal relationship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0" lang="en-US" sz="1725">
                          <a:solidFill>
                            <a:srgbClr val="F6F9FF"/>
                          </a:solidFill>
                        </a:rPr>
                        <a:t>ZZ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0" lang="en-US" sz="1725">
                          <a:solidFill>
                            <a:srgbClr val="F6F9FF"/>
                          </a:solidFill>
                        </a:rPr>
                        <a:t>Equal bits: 00 or 11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151F31"/>
                    </a:solidFill>
                  </a:tcPr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0" lang="en-US" sz="1725">
                          <a:solidFill>
                            <a:srgbClr val="F6F9FF"/>
                          </a:solidFill>
                        </a:rPr>
                        <a:t>XX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0" lang="en-US" sz="1725">
                          <a:solidFill>
                            <a:srgbClr val="F6F9FF"/>
                          </a:solidFill>
                        </a:rPr>
                        <a:t>Equal bits: 00 or 11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A1020"/>
                    </a:solidFill>
                  </a:tcPr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0" lang="en-US" sz="1725">
                          <a:solidFill>
                            <a:srgbClr val="F6F9FF"/>
                          </a:solidFill>
                        </a:rPr>
                        <a:t>YY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0" lang="en-US" sz="1725">
                          <a:solidFill>
                            <a:srgbClr val="F6F9FF"/>
                          </a:solidFill>
                        </a:rPr>
                        <a:t>Opposite bits: 01 or 10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</a:tr>
            </a:tbl>
          </a:graphicData>
        </a:graphic>
      </p:graphicFrame>
      <p:sp>
        <p:nvSpPr>
          <p:cNvPr id="73" name="Google Shape;73;p9"/>
          <p:cNvSpPr/>
          <p:nvPr/>
        </p:nvSpPr>
        <p:spPr>
          <a:xfrm>
            <a:off x="6572250" y="2095500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54D3E7"/>
                </a:solidFill>
              </a:rPr>
              <a:t>Fidelity F: similarity to the target pair</a:t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572250" y="2876550"/>
            <a:ext cx="47625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6F9FF"/>
                </a:solidFill>
              </a:rPr>
              <a:t>1 is ideal. A higher value means the measured correlations are closer to the target.</a:t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6572250" y="4095750"/>
            <a:ext cx="4762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CA83"/>
                </a:solidFill>
              </a:rPr>
              <a:t>Yield: the fraction of attempts we keep</a:t>
            </a: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6572250" y="4886325"/>
            <a:ext cx="47625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6F9FF"/>
                </a:solidFill>
              </a:rPr>
              <a:t>If 1,000 attempts produce 520 passes, yield is 52%. The other 480 still cost gates.</a:t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>
            <a:off x="666750" y="5238750"/>
            <a:ext cx="523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A8B8D0"/>
                </a:solidFill>
              </a:rPr>
              <a:t>Target: (|00⟩ + |11⟩) / √2</a:t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666750" y="5743575"/>
            <a:ext cx="5429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D3E7"/>
                </a:solidFill>
              </a:rPr>
              <a:t>F = (1 + ⟨XX⟩ − ⟨YY⟩ + ⟨ZZ⟩) / 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6F9FF"/>
                </a:solidFill>
              </a:rPr>
              <a:t>The fixed endpoints determine the route</a:t>
            </a:r>
            <a:endParaRPr/>
          </a:p>
        </p:txBody>
      </p:sp>
      <p:sp>
        <p:nvSpPr>
          <p:cNvPr id="86" name="Google Shape;86;p10"/>
          <p:cNvSpPr/>
          <p:nvPr/>
        </p:nvSpPr>
        <p:spPr>
          <a:xfrm>
            <a:off x="628650" y="1304925"/>
            <a:ext cx="10896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A8B8D0"/>
                </a:solidFill>
              </a:rPr>
              <a:t>A dot is a physical qubit. A line is an allowed neighbor link. Orange dots are the required output ports.</a:t>
            </a:r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628650" y="6305550"/>
            <a:ext cx="10896600" cy="0"/>
          </a:xfrm>
          <a:prstGeom prst="straightConnector1">
            <a:avLst/>
          </a:prstGeom>
          <a:noFill/>
          <a:ln cap="flat" cmpd="sng" w="95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0"/>
          <p:cNvSpPr/>
          <p:nvPr/>
        </p:nvSpPr>
        <p:spPr>
          <a:xfrm>
            <a:off x="11049000" y="6448425"/>
            <a:ext cx="476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8B8D0"/>
                </a:solidFill>
              </a:rPr>
              <a:t>3</a:t>
            </a:r>
            <a:endParaRPr/>
          </a:p>
        </p:txBody>
      </p:sp>
      <p:sp>
        <p:nvSpPr>
          <p:cNvPr id="89" name="Google Shape;89;p10"/>
          <p:cNvSpPr/>
          <p:nvPr/>
        </p:nvSpPr>
        <p:spPr>
          <a:xfrm>
            <a:off x="619125" y="2038350"/>
            <a:ext cx="3333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6F9FF"/>
                </a:solidFill>
              </a:rPr>
              <a:t>2016-Inspired (reference)</a:t>
            </a:r>
            <a:endParaRPr/>
          </a:p>
        </p:txBody>
      </p:sp>
      <p:cxnSp>
        <p:nvCxnSpPr>
          <p:cNvPr id="90" name="Google Shape;90;p10"/>
          <p:cNvCxnSpPr/>
          <p:nvPr/>
        </p:nvCxnSpPr>
        <p:spPr>
          <a:xfrm rot="7743826">
            <a:off x="2800741" y="3119865"/>
            <a:ext cx="1121356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10"/>
          <p:cNvCxnSpPr/>
          <p:nvPr/>
        </p:nvCxnSpPr>
        <p:spPr>
          <a:xfrm rot="-10437585">
            <a:off x="1903940" y="3496946"/>
            <a:ext cx="1107222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10"/>
          <p:cNvCxnSpPr/>
          <p:nvPr/>
        </p:nvCxnSpPr>
        <p:spPr>
          <a:xfrm rot="3780923">
            <a:off x="2701819" y="4054836"/>
            <a:ext cx="1121353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10"/>
          <p:cNvCxnSpPr/>
          <p:nvPr/>
        </p:nvCxnSpPr>
        <p:spPr>
          <a:xfrm rot="-10437543">
            <a:off x="854319" y="3383145"/>
            <a:ext cx="1055626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0"/>
          <p:cNvSpPr/>
          <p:nvPr/>
        </p:nvSpPr>
        <p:spPr>
          <a:xfrm>
            <a:off x="3571875" y="2541654"/>
            <a:ext cx="285750" cy="285750"/>
          </a:xfrm>
          <a:prstGeom prst="ellipse">
            <a:avLst/>
          </a:prstGeom>
          <a:solidFill>
            <a:srgbClr val="FFCA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"/>
          <p:cNvSpPr/>
          <p:nvPr/>
        </p:nvSpPr>
        <p:spPr>
          <a:xfrm>
            <a:off x="3543300" y="2579754"/>
            <a:ext cx="342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51F31"/>
                </a:solidFill>
              </a:rPr>
              <a:t>0</a:t>
            </a:r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2912838" y="3459951"/>
            <a:ext cx="190500" cy="19050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"/>
          <p:cNvSpPr/>
          <p:nvPr/>
        </p:nvSpPr>
        <p:spPr>
          <a:xfrm>
            <a:off x="1811764" y="3343441"/>
            <a:ext cx="190500" cy="19050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714375" y="3184723"/>
            <a:ext cx="285750" cy="285750"/>
          </a:xfrm>
          <a:prstGeom prst="ellipse">
            <a:avLst/>
          </a:prstGeom>
          <a:solidFill>
            <a:srgbClr val="FFCA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"/>
          <p:cNvSpPr/>
          <p:nvPr/>
        </p:nvSpPr>
        <p:spPr>
          <a:xfrm>
            <a:off x="685800" y="3222823"/>
            <a:ext cx="342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51F31"/>
                </a:solidFill>
              </a:rPr>
              <a:t>3</a:t>
            </a:r>
            <a:endParaRPr/>
          </a:p>
        </p:txBody>
      </p:sp>
      <p:sp>
        <p:nvSpPr>
          <p:cNvPr id="100" name="Google Shape;100;p10"/>
          <p:cNvSpPr/>
          <p:nvPr/>
        </p:nvSpPr>
        <p:spPr>
          <a:xfrm>
            <a:off x="3421654" y="4459221"/>
            <a:ext cx="190500" cy="19050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"/>
          <p:cNvSpPr/>
          <p:nvPr/>
        </p:nvSpPr>
        <p:spPr>
          <a:xfrm>
            <a:off x="619125" y="5057775"/>
            <a:ext cx="3429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54D3E7"/>
                </a:solidFill>
              </a:rPr>
              <a:t>Ports 0 and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54D3E7"/>
                </a:solidFill>
              </a:rPr>
              <a:t>3 links apart</a:t>
            </a:r>
            <a:endParaRPr/>
          </a:p>
        </p:txBody>
      </p:sp>
      <p:sp>
        <p:nvSpPr>
          <p:cNvPr id="102" name="Google Shape;102;p10"/>
          <p:cNvSpPr/>
          <p:nvPr/>
        </p:nvSpPr>
        <p:spPr>
          <a:xfrm>
            <a:off x="4476750" y="2038350"/>
            <a:ext cx="3333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6F9FF"/>
                </a:solidFill>
              </a:rPr>
              <a:t>IBM snapshot</a:t>
            </a:r>
            <a:endParaRPr/>
          </a:p>
        </p:txBody>
      </p:sp>
      <p:cxnSp>
        <p:nvCxnSpPr>
          <p:cNvPr id="103" name="Google Shape;103;p10"/>
          <p:cNvCxnSpPr/>
          <p:nvPr/>
        </p:nvCxnSpPr>
        <p:spPr>
          <a:xfrm rot="7608682">
            <a:off x="6558201" y="2813049"/>
            <a:ext cx="364843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0"/>
          <p:cNvCxnSpPr/>
          <p:nvPr/>
        </p:nvCxnSpPr>
        <p:spPr>
          <a:xfrm rot="-9630545">
            <a:off x="6261730" y="2895621"/>
            <a:ext cx="380491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0"/>
          <p:cNvCxnSpPr/>
          <p:nvPr/>
        </p:nvCxnSpPr>
        <p:spPr>
          <a:xfrm rot="3659736">
            <a:off x="6533527" y="3125129"/>
            <a:ext cx="379681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0"/>
          <p:cNvCxnSpPr/>
          <p:nvPr/>
        </p:nvCxnSpPr>
        <p:spPr>
          <a:xfrm rot="10677153">
            <a:off x="5903721" y="2838737"/>
            <a:ext cx="369029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0"/>
          <p:cNvCxnSpPr/>
          <p:nvPr/>
        </p:nvCxnSpPr>
        <p:spPr>
          <a:xfrm rot="8786913">
            <a:off x="5565327" y="2947375"/>
            <a:ext cx="369275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0"/>
          <p:cNvCxnSpPr/>
          <p:nvPr/>
        </p:nvCxnSpPr>
        <p:spPr>
          <a:xfrm rot="4721666">
            <a:off x="6662810" y="3477297"/>
            <a:ext cx="379640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0"/>
          <p:cNvCxnSpPr/>
          <p:nvPr/>
        </p:nvCxnSpPr>
        <p:spPr>
          <a:xfrm rot="7331407">
            <a:off x="5304131" y="3210624"/>
            <a:ext cx="380964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0"/>
          <p:cNvCxnSpPr/>
          <p:nvPr/>
        </p:nvCxnSpPr>
        <p:spPr>
          <a:xfrm rot="-10138474">
            <a:off x="6886462" y="3698456"/>
            <a:ext cx="366261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0"/>
          <p:cNvCxnSpPr/>
          <p:nvPr/>
        </p:nvCxnSpPr>
        <p:spPr>
          <a:xfrm rot="7401309">
            <a:off x="6595651" y="3821988"/>
            <a:ext cx="379644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10"/>
          <p:cNvCxnSpPr/>
          <p:nvPr/>
        </p:nvCxnSpPr>
        <p:spPr>
          <a:xfrm rot="-10138483">
            <a:off x="5034568" y="3337219"/>
            <a:ext cx="361910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10"/>
          <p:cNvCxnSpPr/>
          <p:nvPr/>
        </p:nvCxnSpPr>
        <p:spPr>
          <a:xfrm rot="4791639">
            <a:off x="5236189" y="3559333"/>
            <a:ext cx="380964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10"/>
          <p:cNvCxnSpPr/>
          <p:nvPr/>
        </p:nvCxnSpPr>
        <p:spPr>
          <a:xfrm rot="8463324">
            <a:off x="6343617" y="4099869"/>
            <a:ext cx="379678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10"/>
          <p:cNvCxnSpPr/>
          <p:nvPr/>
        </p:nvCxnSpPr>
        <p:spPr>
          <a:xfrm rot="3336059">
            <a:off x="5379878" y="3899189"/>
            <a:ext cx="369275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0"/>
          <p:cNvCxnSpPr/>
          <p:nvPr/>
        </p:nvCxnSpPr>
        <p:spPr>
          <a:xfrm rot="-10646447">
            <a:off x="6005507" y="4210701"/>
            <a:ext cx="380490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10"/>
          <p:cNvCxnSpPr/>
          <p:nvPr/>
        </p:nvCxnSpPr>
        <p:spPr>
          <a:xfrm rot="4514388">
            <a:off x="6249862" y="4395598"/>
            <a:ext cx="364844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10"/>
          <p:cNvCxnSpPr/>
          <p:nvPr/>
        </p:nvCxnSpPr>
        <p:spPr>
          <a:xfrm rot="-9354175">
            <a:off x="5652747" y="4126872"/>
            <a:ext cx="369029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0"/>
          <p:cNvSpPr/>
          <p:nvPr/>
        </p:nvSpPr>
        <p:spPr>
          <a:xfrm>
            <a:off x="6707051" y="2524125"/>
            <a:ext cx="285750" cy="285750"/>
          </a:xfrm>
          <a:prstGeom prst="ellipse">
            <a:avLst/>
          </a:prstGeom>
          <a:solidFill>
            <a:srgbClr val="FFCA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6678476" y="2562225"/>
            <a:ext cx="342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51F31"/>
                </a:solidFill>
              </a:rPr>
              <a:t>0</a:t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6536068" y="2863848"/>
            <a:ext cx="190500" cy="19050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6177382" y="2736894"/>
            <a:ext cx="190500" cy="19050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5808589" y="2750079"/>
            <a:ext cx="190500" cy="19050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6720167" y="3195910"/>
            <a:ext cx="190500" cy="19050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5500839" y="2954171"/>
            <a:ext cx="190500" cy="19050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7154093" y="3638229"/>
            <a:ext cx="190500" cy="19050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6794592" y="3568184"/>
            <a:ext cx="190500" cy="19050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/>
          <p:cNvSpPr/>
          <p:nvPr/>
        </p:nvSpPr>
        <p:spPr>
          <a:xfrm>
            <a:off x="5297888" y="3276576"/>
            <a:ext cx="190500" cy="19050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4942657" y="3207363"/>
            <a:ext cx="190500" cy="19050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6585854" y="3885292"/>
            <a:ext cx="190500" cy="19050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"/>
          <p:cNvSpPr/>
          <p:nvPr/>
        </p:nvSpPr>
        <p:spPr>
          <a:xfrm>
            <a:off x="5364954" y="3651590"/>
            <a:ext cx="190500" cy="19050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6290558" y="4123946"/>
            <a:ext cx="190500" cy="19050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5910447" y="4106956"/>
            <a:ext cx="190500" cy="19050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5573577" y="3956287"/>
            <a:ext cx="190500" cy="19050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6335886" y="4429125"/>
            <a:ext cx="285750" cy="285750"/>
          </a:xfrm>
          <a:prstGeom prst="ellipse">
            <a:avLst/>
          </a:prstGeom>
          <a:solidFill>
            <a:srgbClr val="FFCA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6307311" y="4467225"/>
            <a:ext cx="342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51F31"/>
                </a:solidFill>
              </a:rPr>
              <a:t>15</a:t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4476750" y="5057775"/>
            <a:ext cx="3429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54D3E7"/>
                </a:solidFill>
              </a:rPr>
              <a:t>Ports 0 and 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54D3E7"/>
                </a:solidFill>
              </a:rPr>
              <a:t>6 links apart</a:t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8334375" y="2038350"/>
            <a:ext cx="3333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6F9FF"/>
                </a:solidFill>
              </a:rPr>
              <a:t>Hyperbolic patch</a:t>
            </a:r>
            <a:endParaRPr/>
          </a:p>
        </p:txBody>
      </p:sp>
      <p:cxnSp>
        <p:nvCxnSpPr>
          <p:cNvPr id="139" name="Google Shape;139;p10"/>
          <p:cNvCxnSpPr/>
          <p:nvPr/>
        </p:nvCxnSpPr>
        <p:spPr>
          <a:xfrm rot="-10443117">
            <a:off x="9909132" y="3343707"/>
            <a:ext cx="292580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10"/>
          <p:cNvCxnSpPr/>
          <p:nvPr/>
        </p:nvCxnSpPr>
        <p:spPr>
          <a:xfrm rot="3442594">
            <a:off x="10133501" y="3482075"/>
            <a:ext cx="292577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10"/>
          <p:cNvCxnSpPr/>
          <p:nvPr/>
        </p:nvCxnSpPr>
        <p:spPr>
          <a:xfrm rot="-3500265">
            <a:off x="10131751" y="3234938"/>
            <a:ext cx="291199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10"/>
          <p:cNvCxnSpPr/>
          <p:nvPr/>
        </p:nvCxnSpPr>
        <p:spPr>
          <a:xfrm rot="8071167">
            <a:off x="9661059" y="3432854"/>
            <a:ext cx="292579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10"/>
          <p:cNvCxnSpPr/>
          <p:nvPr/>
        </p:nvCxnSpPr>
        <p:spPr>
          <a:xfrm rot="-6585971">
            <a:off x="9715081" y="3191527"/>
            <a:ext cx="291198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10"/>
          <p:cNvCxnSpPr/>
          <p:nvPr/>
        </p:nvCxnSpPr>
        <p:spPr>
          <a:xfrm rot="4985442">
            <a:off x="9576086" y="3682387"/>
            <a:ext cx="292579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10"/>
          <p:cNvCxnSpPr/>
          <p:nvPr/>
        </p:nvCxnSpPr>
        <p:spPr>
          <a:xfrm rot="-9671683">
            <a:off x="9421351" y="3490226"/>
            <a:ext cx="291198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10"/>
          <p:cNvCxnSpPr/>
          <p:nvPr/>
        </p:nvCxnSpPr>
        <p:spPr>
          <a:xfrm rot="1899745">
            <a:off x="9718199" y="3904403"/>
            <a:ext cx="292578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0"/>
          <p:cNvCxnSpPr/>
          <p:nvPr/>
        </p:nvCxnSpPr>
        <p:spPr>
          <a:xfrm rot="8842602">
            <a:off x="9471745" y="3906109"/>
            <a:ext cx="291199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10"/>
          <p:cNvCxnSpPr/>
          <p:nvPr/>
        </p:nvCxnSpPr>
        <p:spPr>
          <a:xfrm rot="-1185970">
            <a:off x="9980384" y="3931720"/>
            <a:ext cx="292580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10"/>
          <p:cNvCxnSpPr/>
          <p:nvPr/>
        </p:nvCxnSpPr>
        <p:spPr>
          <a:xfrm rot="5756855">
            <a:off x="9828317" y="4126008"/>
            <a:ext cx="291198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10"/>
          <p:cNvCxnSpPr/>
          <p:nvPr/>
        </p:nvCxnSpPr>
        <p:spPr>
          <a:xfrm rot="-4271711">
            <a:off x="10165210" y="3743766"/>
            <a:ext cx="292580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10"/>
          <p:cNvCxnSpPr/>
          <p:nvPr/>
        </p:nvCxnSpPr>
        <p:spPr>
          <a:xfrm rot="2671149">
            <a:off x="10222560" y="3984333"/>
            <a:ext cx="291197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0"/>
          <p:cNvCxnSpPr/>
          <p:nvPr/>
        </p:nvCxnSpPr>
        <p:spPr>
          <a:xfrm rot="-414547">
            <a:off x="10357599" y="3587769"/>
            <a:ext cx="291200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10"/>
          <p:cNvCxnSpPr/>
          <p:nvPr/>
        </p:nvCxnSpPr>
        <p:spPr>
          <a:xfrm rot="-5835872">
            <a:off x="10197982" y="2973815"/>
            <a:ext cx="276612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10"/>
          <p:cNvCxnSpPr/>
          <p:nvPr/>
        </p:nvCxnSpPr>
        <p:spPr>
          <a:xfrm rot="-1164668">
            <a:off x="10345915" y="3065045"/>
            <a:ext cx="276612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10"/>
          <p:cNvCxnSpPr/>
          <p:nvPr/>
        </p:nvCxnSpPr>
        <p:spPr>
          <a:xfrm rot="-4250392">
            <a:off x="9718528" y="2923862"/>
            <a:ext cx="276613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10"/>
          <p:cNvCxnSpPr/>
          <p:nvPr/>
        </p:nvCxnSpPr>
        <p:spPr>
          <a:xfrm rot="-8921579">
            <a:off x="9554967" y="2982640"/>
            <a:ext cx="276612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10"/>
          <p:cNvCxnSpPr/>
          <p:nvPr/>
        </p:nvCxnSpPr>
        <p:spPr>
          <a:xfrm rot="-7336102">
            <a:off x="9216977" y="3326345"/>
            <a:ext cx="276613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10"/>
          <p:cNvCxnSpPr/>
          <p:nvPr/>
        </p:nvCxnSpPr>
        <p:spPr>
          <a:xfrm rot="9592718">
            <a:off x="9160952" y="3490870"/>
            <a:ext cx="276613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10"/>
          <p:cNvCxnSpPr/>
          <p:nvPr/>
        </p:nvCxnSpPr>
        <p:spPr>
          <a:xfrm rot="-10421804">
            <a:off x="9218940" y="3969419"/>
            <a:ext cx="276612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10"/>
          <p:cNvCxnSpPr/>
          <p:nvPr/>
        </p:nvCxnSpPr>
        <p:spPr>
          <a:xfrm rot="6506981">
            <a:off x="9312640" y="4115801"/>
            <a:ext cx="276612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10"/>
          <p:cNvCxnSpPr/>
          <p:nvPr/>
        </p:nvCxnSpPr>
        <p:spPr>
          <a:xfrm rot="8092478">
            <a:off x="9722941" y="4368834"/>
            <a:ext cx="276612" cy="0"/>
          </a:xfrm>
          <a:prstGeom prst="straightConnector1">
            <a:avLst/>
          </a:prstGeom>
          <a:noFill/>
          <a:ln cap="flat" cmpd="sng" w="28575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10"/>
          <p:cNvCxnSpPr/>
          <p:nvPr/>
        </p:nvCxnSpPr>
        <p:spPr>
          <a:xfrm rot="3421265">
            <a:off x="9895808" y="4386844"/>
            <a:ext cx="276612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10"/>
          <p:cNvCxnSpPr/>
          <p:nvPr/>
        </p:nvCxnSpPr>
        <p:spPr>
          <a:xfrm rot="5006738">
            <a:off x="10349454" y="4223822"/>
            <a:ext cx="276612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10"/>
          <p:cNvCxnSpPr/>
          <p:nvPr/>
        </p:nvCxnSpPr>
        <p:spPr>
          <a:xfrm rot="335558">
            <a:off x="10471315" y="4099898"/>
            <a:ext cx="276612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10"/>
          <p:cNvCxnSpPr/>
          <p:nvPr/>
        </p:nvCxnSpPr>
        <p:spPr>
          <a:xfrm rot="1921045">
            <a:off x="10626704" y="3643581"/>
            <a:ext cx="276610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10"/>
          <p:cNvCxnSpPr/>
          <p:nvPr/>
        </p:nvCxnSpPr>
        <p:spPr>
          <a:xfrm rot="-2750150">
            <a:off x="10605796" y="3471042"/>
            <a:ext cx="276611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10"/>
          <p:cNvCxnSpPr/>
          <p:nvPr/>
        </p:nvCxnSpPr>
        <p:spPr>
          <a:xfrm rot="-8320244">
            <a:off x="10093938" y="2751809"/>
            <a:ext cx="256848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10"/>
          <p:cNvCxnSpPr/>
          <p:nvPr/>
        </p:nvCxnSpPr>
        <p:spPr>
          <a:xfrm rot="9034013">
            <a:off x="9885652" y="2730109"/>
            <a:ext cx="256848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10"/>
          <p:cNvCxnSpPr/>
          <p:nvPr/>
        </p:nvCxnSpPr>
        <p:spPr>
          <a:xfrm rot="10194042">
            <a:off x="9320247" y="2933292"/>
            <a:ext cx="256848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0"/>
          <p:cNvCxnSpPr/>
          <p:nvPr/>
        </p:nvCxnSpPr>
        <p:spPr>
          <a:xfrm rot="5948309">
            <a:off x="9173417" y="3082606"/>
            <a:ext cx="256848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10"/>
          <p:cNvCxnSpPr/>
          <p:nvPr/>
        </p:nvCxnSpPr>
        <p:spPr>
          <a:xfrm rot="7108309">
            <a:off x="8979747" y="3651340"/>
            <a:ext cx="256847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10"/>
          <p:cNvCxnSpPr/>
          <p:nvPr/>
        </p:nvCxnSpPr>
        <p:spPr>
          <a:xfrm rot="2862600">
            <a:off x="9004938" y="3859233"/>
            <a:ext cx="256849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10"/>
          <p:cNvCxnSpPr/>
          <p:nvPr/>
        </p:nvCxnSpPr>
        <p:spPr>
          <a:xfrm rot="4022594">
            <a:off x="9328842" y="4365251"/>
            <a:ext cx="256848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10"/>
          <p:cNvCxnSpPr/>
          <p:nvPr/>
        </p:nvCxnSpPr>
        <p:spPr>
          <a:xfrm rot="-223122">
            <a:off x="9507086" y="4475174"/>
            <a:ext cx="256849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10"/>
          <p:cNvCxnSpPr/>
          <p:nvPr/>
        </p:nvCxnSpPr>
        <p:spPr>
          <a:xfrm rot="936876">
            <a:off x="10104658" y="4537433"/>
            <a:ext cx="256849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10"/>
          <p:cNvCxnSpPr/>
          <p:nvPr/>
        </p:nvCxnSpPr>
        <p:spPr>
          <a:xfrm rot="-3308851">
            <a:off x="10301733" y="4466612"/>
            <a:ext cx="256848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10"/>
          <p:cNvCxnSpPr/>
          <p:nvPr/>
        </p:nvCxnSpPr>
        <p:spPr>
          <a:xfrm rot="-2148828">
            <a:off x="10722987" y="4038229"/>
            <a:ext cx="256848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10"/>
          <p:cNvCxnSpPr/>
          <p:nvPr/>
        </p:nvCxnSpPr>
        <p:spPr>
          <a:xfrm rot="-6394575">
            <a:off x="10790490" y="3839994"/>
            <a:ext cx="256849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10"/>
          <p:cNvCxnSpPr/>
          <p:nvPr/>
        </p:nvCxnSpPr>
        <p:spPr>
          <a:xfrm rot="-5234531">
            <a:off x="10718216" y="3243553"/>
            <a:ext cx="256849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10"/>
          <p:cNvCxnSpPr/>
          <p:nvPr/>
        </p:nvCxnSpPr>
        <p:spPr>
          <a:xfrm rot="-9480280">
            <a:off x="10605319" y="3067179"/>
            <a:ext cx="256848" cy="0"/>
          </a:xfrm>
          <a:prstGeom prst="straightConnector1">
            <a:avLst/>
          </a:prstGeom>
          <a:noFill/>
          <a:ln cap="flat" cmpd="sng" w="152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10"/>
          <p:cNvSpPr/>
          <p:nvPr/>
        </p:nvSpPr>
        <p:spPr>
          <a:xfrm>
            <a:off x="10134248" y="3292191"/>
            <a:ext cx="133350" cy="13335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9843244" y="3261872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9638102" y="3470485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9673299" y="3760939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9922328" y="3914518"/>
            <a:ext cx="133350" cy="13335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10197669" y="3815572"/>
            <a:ext cx="133350" cy="13335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10291981" y="3538609"/>
            <a:ext cx="133350" cy="13335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10287102" y="3044335"/>
            <a:ext cx="133350" cy="13335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9744766" y="2987832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9362449" y="3376616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9428041" y="3917929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9892155" y="4204148"/>
            <a:ext cx="133350" cy="133350"/>
          </a:xfrm>
          <a:prstGeom prst="ellipse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10405298" y="4019745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10581067" y="3503579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10175924" y="2693744"/>
            <a:ext cx="285750" cy="285750"/>
          </a:xfrm>
          <a:prstGeom prst="ellipse">
            <a:avLst/>
          </a:prstGeom>
          <a:solidFill>
            <a:srgbClr val="FFCA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10147349" y="2731844"/>
            <a:ext cx="342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51F31"/>
                </a:solidFill>
              </a:rPr>
              <a:t>14</a:t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10059250" y="2600325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9835553" y="2726542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9508430" y="2844097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9255562" y="2889137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9214769" y="3142725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9102718" y="3471774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8980272" y="3697556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9153102" y="3887559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9340501" y="4180323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9440681" y="4416829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9620789" y="4323970"/>
            <a:ext cx="285750" cy="285750"/>
          </a:xfrm>
          <a:prstGeom prst="ellipse">
            <a:avLst/>
          </a:prstGeom>
          <a:solidFill>
            <a:srgbClr val="FFCA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9592214" y="4362070"/>
            <a:ext cx="342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51F31"/>
                </a:solidFill>
              </a:rPr>
              <a:t>25</a:t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10042723" y="4436190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10290092" y="4505325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0436872" y="4294549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10680594" y="4046702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10888878" y="3896406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10815601" y="3650232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10773786" y="3305154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10786144" y="3048602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10547991" y="2952405"/>
            <a:ext cx="133350" cy="133350"/>
          </a:xfrm>
          <a:prstGeom prst="ellipse">
            <a:avLst/>
          </a:prstGeom>
          <a:solidFill>
            <a:srgbClr val="31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8334375" y="5057775"/>
            <a:ext cx="3429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54D3E7"/>
                </a:solidFill>
              </a:rPr>
              <a:t>Ports 14 and 25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54D3E7"/>
                </a:solidFill>
              </a:rPr>
              <a:t>7 links apart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2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6F9FF"/>
                </a:solidFill>
              </a:rPr>
              <a:t>Two SWAPs turn a short route into seven CNOTs</a:t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628650" y="1304925"/>
            <a:ext cx="10896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A8B8D0"/>
                </a:solidFill>
              </a:rPr>
              <a:t>2016</a:t>
            </a:r>
            <a:r>
              <a:rPr b="0" lang="en-US" sz="1650">
                <a:solidFill>
                  <a:srgbClr val="A8B8D0"/>
                </a:solidFill>
              </a:rPr>
              <a:t> example: first make the pair on the middle link, then move each half to an endpoint.</a:t>
            </a:r>
            <a:endParaRPr/>
          </a:p>
        </p:txBody>
      </p:sp>
      <p:cxnSp>
        <p:nvCxnSpPr>
          <p:cNvPr id="227" name="Google Shape;227;p11"/>
          <p:cNvCxnSpPr/>
          <p:nvPr/>
        </p:nvCxnSpPr>
        <p:spPr>
          <a:xfrm>
            <a:off x="628650" y="6305550"/>
            <a:ext cx="10896600" cy="0"/>
          </a:xfrm>
          <a:prstGeom prst="straightConnector1">
            <a:avLst/>
          </a:prstGeom>
          <a:noFill/>
          <a:ln cap="flat" cmpd="sng" w="95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1"/>
          <p:cNvSpPr/>
          <p:nvPr/>
        </p:nvSpPr>
        <p:spPr>
          <a:xfrm>
            <a:off x="11049000" y="6448425"/>
            <a:ext cx="476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8B8D0"/>
                </a:solidFill>
              </a:rPr>
              <a:t>4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647700" y="2076450"/>
            <a:ext cx="85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6F9FF"/>
                </a:solidFill>
              </a:rPr>
              <a:t>q0 |0⟩</a:t>
            </a:r>
            <a:endParaRPr/>
          </a:p>
        </p:txBody>
      </p:sp>
      <p:cxnSp>
        <p:nvCxnSpPr>
          <p:cNvPr id="230" name="Google Shape;230;p11"/>
          <p:cNvCxnSpPr/>
          <p:nvPr/>
        </p:nvCxnSpPr>
        <p:spPr>
          <a:xfrm>
            <a:off x="1666875" y="2238375"/>
            <a:ext cx="5857875" cy="0"/>
          </a:xfrm>
          <a:prstGeom prst="straightConnector1">
            <a:avLst/>
          </a:prstGeom>
          <a:noFill/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1"/>
          <p:cNvSpPr/>
          <p:nvPr/>
        </p:nvSpPr>
        <p:spPr>
          <a:xfrm>
            <a:off x="647700" y="2743200"/>
            <a:ext cx="85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6F9FF"/>
                </a:solidFill>
              </a:rPr>
              <a:t>q1 |0⟩</a:t>
            </a:r>
            <a:endParaRPr/>
          </a:p>
        </p:txBody>
      </p:sp>
      <p:cxnSp>
        <p:nvCxnSpPr>
          <p:cNvPr id="232" name="Google Shape;232;p11"/>
          <p:cNvCxnSpPr/>
          <p:nvPr/>
        </p:nvCxnSpPr>
        <p:spPr>
          <a:xfrm>
            <a:off x="1666875" y="2905125"/>
            <a:ext cx="5857875" cy="0"/>
          </a:xfrm>
          <a:prstGeom prst="straightConnector1">
            <a:avLst/>
          </a:prstGeom>
          <a:noFill/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1"/>
          <p:cNvSpPr/>
          <p:nvPr/>
        </p:nvSpPr>
        <p:spPr>
          <a:xfrm>
            <a:off x="647700" y="3409950"/>
            <a:ext cx="85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6F9FF"/>
                </a:solidFill>
              </a:rPr>
              <a:t>q2 |0⟩</a:t>
            </a:r>
            <a:endParaRPr/>
          </a:p>
        </p:txBody>
      </p:sp>
      <p:cxnSp>
        <p:nvCxnSpPr>
          <p:cNvPr id="234" name="Google Shape;234;p11"/>
          <p:cNvCxnSpPr/>
          <p:nvPr/>
        </p:nvCxnSpPr>
        <p:spPr>
          <a:xfrm>
            <a:off x="1666875" y="3571875"/>
            <a:ext cx="5857875" cy="0"/>
          </a:xfrm>
          <a:prstGeom prst="straightConnector1">
            <a:avLst/>
          </a:prstGeom>
          <a:noFill/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11"/>
          <p:cNvSpPr/>
          <p:nvPr/>
        </p:nvSpPr>
        <p:spPr>
          <a:xfrm>
            <a:off x="647700" y="4076700"/>
            <a:ext cx="85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6F9FF"/>
                </a:solidFill>
              </a:rPr>
              <a:t>q3 |0⟩</a:t>
            </a:r>
            <a:endParaRPr/>
          </a:p>
        </p:txBody>
      </p:sp>
      <p:cxnSp>
        <p:nvCxnSpPr>
          <p:cNvPr id="236" name="Google Shape;236;p11"/>
          <p:cNvCxnSpPr/>
          <p:nvPr/>
        </p:nvCxnSpPr>
        <p:spPr>
          <a:xfrm>
            <a:off x="1666875" y="4238625"/>
            <a:ext cx="5857875" cy="0"/>
          </a:xfrm>
          <a:prstGeom prst="straightConnector1">
            <a:avLst/>
          </a:prstGeom>
          <a:noFill/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1"/>
          <p:cNvSpPr/>
          <p:nvPr/>
        </p:nvSpPr>
        <p:spPr>
          <a:xfrm>
            <a:off x="2152650" y="2705100"/>
            <a:ext cx="457200" cy="400050"/>
          </a:xfrm>
          <a:prstGeom prst="rect">
            <a:avLst/>
          </a:prstGeom>
          <a:solidFill>
            <a:srgbClr val="0A1020"/>
          </a:solidFill>
          <a:ln cap="flat" cmpd="sng" w="19050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2152650" y="2762250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54D3E7"/>
                </a:solidFill>
              </a:rPr>
              <a:t>H</a:t>
            </a:r>
            <a:endParaRPr/>
          </a:p>
        </p:txBody>
      </p:sp>
      <p:cxnSp>
        <p:nvCxnSpPr>
          <p:cNvPr id="239" name="Google Shape;239;p11"/>
          <p:cNvCxnSpPr/>
          <p:nvPr/>
        </p:nvCxnSpPr>
        <p:spPr>
          <a:xfrm rot="5400000">
            <a:off x="3000375" y="3238500"/>
            <a:ext cx="66675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1"/>
          <p:cNvSpPr/>
          <p:nvPr/>
        </p:nvSpPr>
        <p:spPr>
          <a:xfrm>
            <a:off x="3286125" y="2857500"/>
            <a:ext cx="95250" cy="95250"/>
          </a:xfrm>
          <a:prstGeom prst="ellipse">
            <a:avLst/>
          </a:prstGeom>
          <a:solidFill>
            <a:srgbClr val="BAA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3219450" y="3457575"/>
            <a:ext cx="228600" cy="228600"/>
          </a:xfrm>
          <a:prstGeom prst="ellipse">
            <a:avLst/>
          </a:prstGeom>
          <a:solidFill>
            <a:srgbClr val="0A1020"/>
          </a:solidFill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11"/>
          <p:cNvCxnSpPr/>
          <p:nvPr/>
        </p:nvCxnSpPr>
        <p:spPr>
          <a:xfrm>
            <a:off x="3257550" y="3571875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11"/>
          <p:cNvCxnSpPr/>
          <p:nvPr/>
        </p:nvCxnSpPr>
        <p:spPr>
          <a:xfrm rot="5400000">
            <a:off x="3257550" y="3571875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11"/>
          <p:cNvCxnSpPr/>
          <p:nvPr/>
        </p:nvCxnSpPr>
        <p:spPr>
          <a:xfrm rot="5400000">
            <a:off x="4333875" y="2571750"/>
            <a:ext cx="66675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11"/>
          <p:cNvCxnSpPr/>
          <p:nvPr/>
        </p:nvCxnSpPr>
        <p:spPr>
          <a:xfrm rot="2700000">
            <a:off x="4559487" y="2238375"/>
            <a:ext cx="215526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11"/>
          <p:cNvCxnSpPr/>
          <p:nvPr/>
        </p:nvCxnSpPr>
        <p:spPr>
          <a:xfrm rot="-2700000">
            <a:off x="4559487" y="2238375"/>
            <a:ext cx="215526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11"/>
          <p:cNvCxnSpPr/>
          <p:nvPr/>
        </p:nvCxnSpPr>
        <p:spPr>
          <a:xfrm rot="2700000">
            <a:off x="4559487" y="2905125"/>
            <a:ext cx="215526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11"/>
          <p:cNvCxnSpPr/>
          <p:nvPr/>
        </p:nvCxnSpPr>
        <p:spPr>
          <a:xfrm rot="-2700000">
            <a:off x="4559487" y="2905125"/>
            <a:ext cx="215526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11"/>
          <p:cNvCxnSpPr/>
          <p:nvPr/>
        </p:nvCxnSpPr>
        <p:spPr>
          <a:xfrm rot="5400000">
            <a:off x="5572125" y="3905250"/>
            <a:ext cx="66675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11"/>
          <p:cNvCxnSpPr/>
          <p:nvPr/>
        </p:nvCxnSpPr>
        <p:spPr>
          <a:xfrm rot="2700000">
            <a:off x="5797737" y="3571875"/>
            <a:ext cx="215526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11"/>
          <p:cNvCxnSpPr/>
          <p:nvPr/>
        </p:nvCxnSpPr>
        <p:spPr>
          <a:xfrm rot="-2700000">
            <a:off x="5797737" y="3571875"/>
            <a:ext cx="215526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11"/>
          <p:cNvCxnSpPr/>
          <p:nvPr/>
        </p:nvCxnSpPr>
        <p:spPr>
          <a:xfrm rot="2700000">
            <a:off x="5797737" y="4238625"/>
            <a:ext cx="215526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11"/>
          <p:cNvCxnSpPr/>
          <p:nvPr/>
        </p:nvCxnSpPr>
        <p:spPr>
          <a:xfrm rot="-2700000">
            <a:off x="5797737" y="4238625"/>
            <a:ext cx="215526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11"/>
          <p:cNvSpPr/>
          <p:nvPr/>
        </p:nvSpPr>
        <p:spPr>
          <a:xfrm>
            <a:off x="6953250" y="2038350"/>
            <a:ext cx="381000" cy="400050"/>
          </a:xfrm>
          <a:prstGeom prst="rect">
            <a:avLst/>
          </a:prstGeom>
          <a:solidFill>
            <a:srgbClr val="0A1020"/>
          </a:solidFill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953250" y="209550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A8B8D0"/>
                </a:solidFill>
              </a:rPr>
              <a:t>M</a:t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6953250" y="4038600"/>
            <a:ext cx="381000" cy="400050"/>
          </a:xfrm>
          <a:prstGeom prst="rect">
            <a:avLst/>
          </a:prstGeom>
          <a:solidFill>
            <a:srgbClr val="0A1020"/>
          </a:solidFill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6953250" y="40957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A8B8D0"/>
                </a:solidFill>
              </a:rPr>
              <a:t>M</a:t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1000125" y="4705350"/>
            <a:ext cx="276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4D3E7"/>
                </a:solidFill>
              </a:rPr>
              <a:t>(|00⟩ + |11⟩) / √2</a:t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4027000" y="4381500"/>
            <a:ext cx="4269000" cy="14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50">
              <a:solidFill>
                <a:srgbClr val="BAA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50">
                <a:solidFill>
                  <a:srgbClr val="BAA0FF"/>
                </a:solidFill>
              </a:rPr>
              <a:t>Prepare the Bell pair:</a:t>
            </a:r>
            <a:endParaRPr b="1" sz="1650">
              <a:solidFill>
                <a:srgbClr val="BAA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BAA0FF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BAA0FF"/>
              </a:buClr>
              <a:buSzPts val="1650"/>
              <a:buChar char="-"/>
            </a:pPr>
            <a:r>
              <a:rPr b="1" lang="en-US" sz="1650">
                <a:solidFill>
                  <a:srgbClr val="BAA0FF"/>
                </a:solidFill>
              </a:rPr>
              <a:t>H creates superposition</a:t>
            </a:r>
            <a:endParaRPr b="1" sz="1650">
              <a:solidFill>
                <a:srgbClr val="BAA0FF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BAA0FF"/>
              </a:buClr>
              <a:buSzPts val="1650"/>
              <a:buChar char="-"/>
            </a:pPr>
            <a:r>
              <a:rPr b="1" lang="en-US" sz="1650">
                <a:solidFill>
                  <a:srgbClr val="BAA0FF"/>
                </a:solidFill>
              </a:rPr>
              <a:t>CNOT creates entanglement</a:t>
            </a:r>
            <a:endParaRPr b="1" sz="1650">
              <a:solidFill>
                <a:srgbClr val="BAA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BAA0FF"/>
              </a:solidFill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8153400" y="2190750"/>
            <a:ext cx="3143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54D3E7"/>
                </a:solidFill>
              </a:rPr>
              <a:t>1 + 2 × 3 = 7</a:t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8162925" y="2962275"/>
            <a:ext cx="30956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F6F9FF"/>
                </a:solidFill>
              </a:rPr>
              <a:t>CNOT gates after compilation</a:t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8162925" y="3952875"/>
            <a:ext cx="33337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F6F9FF"/>
                </a:solidFill>
              </a:rPr>
              <a:t>●—⊕  CNOT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F6F9FF"/>
                </a:solidFill>
              </a:rPr>
              <a:t>×—×  SWAP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F6F9FF"/>
                </a:solidFill>
              </a:rPr>
              <a:t>M       measurement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F6F9FF"/>
                </a:solidFill>
              </a:rPr>
              <a:t>H        creates superposition</a:t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671513" y="5710238"/>
            <a:ext cx="1081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F6F9FF"/>
                </a:solidFill>
              </a:rPr>
              <a:t>Same circuit: F = 1.000 without noise → 0.862 with the official noise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20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6F9FF"/>
                </a:solidFill>
              </a:rPr>
              <a:t>Checking raises the score of the kept sample</a:t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628650" y="1304925"/>
            <a:ext cx="10896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A8B8D0"/>
                </a:solidFill>
              </a:rPr>
              <a:t>MAKE: ideal F = 1.000  →  BREAK: add official noise  →  PROTECT: check parity and keep reported passes.</a:t>
            </a:r>
            <a:endParaRPr/>
          </a:p>
        </p:txBody>
      </p:sp>
      <p:cxnSp>
        <p:nvCxnSpPr>
          <p:cNvPr id="272" name="Google Shape;272;p12"/>
          <p:cNvCxnSpPr/>
          <p:nvPr/>
        </p:nvCxnSpPr>
        <p:spPr>
          <a:xfrm>
            <a:off x="628650" y="6305550"/>
            <a:ext cx="10896600" cy="0"/>
          </a:xfrm>
          <a:prstGeom prst="straightConnector1">
            <a:avLst/>
          </a:prstGeom>
          <a:noFill/>
          <a:ln cap="flat" cmpd="sng" w="95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12"/>
          <p:cNvSpPr/>
          <p:nvPr/>
        </p:nvSpPr>
        <p:spPr>
          <a:xfrm>
            <a:off x="11049000" y="6448425"/>
            <a:ext cx="476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8B8D0"/>
                </a:solidFill>
              </a:rPr>
              <a:t>5</a:t>
            </a:r>
            <a:endParaRPr/>
          </a:p>
        </p:txBody>
      </p:sp>
      <p:pic>
        <p:nvPicPr>
          <p:cNvPr id="274" name="Google Shape;274;p12"/>
          <p:cNvPicPr preferRelativeResize="0"/>
          <p:nvPr/>
        </p:nvPicPr>
        <p:blipFill rotWithShape="1">
          <a:blip r:embed="rId3">
            <a:alphaModFix/>
          </a:blip>
          <a:srcRect b="0" l="30" r="20" t="0"/>
          <a:stretch/>
        </p:blipFill>
        <p:spPr>
          <a:xfrm>
            <a:off x="609600" y="1952625"/>
            <a:ext cx="7191300" cy="34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2"/>
          <p:cNvSpPr/>
          <p:nvPr/>
        </p:nvSpPr>
        <p:spPr>
          <a:xfrm>
            <a:off x="8115300" y="2009775"/>
            <a:ext cx="3371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6F9FF"/>
                </a:solidFill>
              </a:rPr>
              <a:t>Kept attempts in Level 3</a:t>
            </a:r>
            <a:endParaRPr/>
          </a:p>
        </p:txBody>
      </p:sp>
      <p:graphicFrame>
        <p:nvGraphicFramePr>
          <p:cNvPr id="276" name="Google Shape;276;p12"/>
          <p:cNvGraphicFramePr/>
          <p:nvPr/>
        </p:nvGraphicFramePr>
        <p:xfrm>
          <a:off x="8096250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{83320FF5-F463-42F3-8CA8-52FD15076B27}</a:tableStyleId>
              </a:tblPr>
              <a:tblGrid>
                <a:gridCol w="2238375"/>
                <a:gridCol w="1143000"/>
              </a:tblGrid>
              <a:tr h="5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1" lang="en-US" sz="1725">
                          <a:solidFill>
                            <a:srgbClr val="F6F9FF"/>
                          </a:solidFill>
                        </a:rPr>
                        <a:t>Model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1" lang="en-US" sz="1725">
                          <a:solidFill>
                            <a:srgbClr val="F6F9FF"/>
                          </a:solidFill>
                        </a:rPr>
                        <a:t>Kept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</a:tr>
              <a:tr h="5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0" lang="en-US" sz="1725">
                          <a:solidFill>
                            <a:srgbClr val="F6F9FF"/>
                          </a:solidFill>
                        </a:rPr>
                        <a:t>Reference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0" lang="en-US" sz="1725">
                          <a:solidFill>
                            <a:srgbClr val="F6F9FF"/>
                          </a:solidFill>
                        </a:rPr>
                        <a:t>85.7%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151F31"/>
                    </a:solidFill>
                  </a:tcPr>
                </a:tc>
              </a:tr>
              <a:tr h="5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0" lang="en-US" sz="1725">
                          <a:solidFill>
                            <a:srgbClr val="F6F9FF"/>
                          </a:solidFill>
                        </a:rPr>
                        <a:t>IBM snapshot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0" lang="en-US" sz="1725">
                          <a:solidFill>
                            <a:srgbClr val="F6F9FF"/>
                          </a:solidFill>
                        </a:rPr>
                        <a:t>82.2%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A1020"/>
                    </a:solidFill>
                  </a:tcPr>
                </a:tc>
              </a:tr>
              <a:tr h="5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0" lang="en-US" sz="1725">
                          <a:solidFill>
                            <a:srgbClr val="F6F9FF"/>
                          </a:solidFill>
                        </a:rPr>
                        <a:t>Hyperbolic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725"/>
                        <a:buFont typeface="Inter"/>
                        <a:buNone/>
                      </a:pPr>
                      <a:r>
                        <a:rPr b="0" lang="en-US" sz="1725">
                          <a:solidFill>
                            <a:srgbClr val="F6F9FF"/>
                          </a:solidFill>
                        </a:rPr>
                        <a:t>72.3%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</a:tr>
            </a:tbl>
          </a:graphicData>
        </a:graphic>
      </p:graphicFrame>
      <p:sp>
        <p:nvSpPr>
          <p:cNvPr id="277" name="Google Shape;277;p12"/>
          <p:cNvSpPr/>
          <p:nvPr/>
        </p:nvSpPr>
        <p:spPr>
          <a:xfrm>
            <a:off x="666750" y="5600700"/>
            <a:ext cx="10763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6F9FF"/>
                </a:solidFill>
              </a:rPr>
              <a:t>The check selects a cleaner sample while spending more gates and attempts.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2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6F9FF"/>
                </a:solidFill>
              </a:rPr>
              <a:t>The check adds noise; selection removes many bad attempts</a:t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628650" y="1304925"/>
            <a:ext cx="10896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A8B8D0"/>
                </a:solidFill>
              </a:rPr>
              <a:t>Reference circuit: compare the original run, the checked run before filtering, and only its reported passes.</a:t>
            </a:r>
            <a:endParaRPr/>
          </a:p>
        </p:txBody>
      </p:sp>
      <p:cxnSp>
        <p:nvCxnSpPr>
          <p:cNvPr id="286" name="Google Shape;286;p13"/>
          <p:cNvCxnSpPr/>
          <p:nvPr/>
        </p:nvCxnSpPr>
        <p:spPr>
          <a:xfrm>
            <a:off x="628650" y="6305550"/>
            <a:ext cx="10896600" cy="0"/>
          </a:xfrm>
          <a:prstGeom prst="straightConnector1">
            <a:avLst/>
          </a:prstGeom>
          <a:noFill/>
          <a:ln cap="flat" cmpd="sng" w="95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3"/>
          <p:cNvSpPr/>
          <p:nvPr/>
        </p:nvSpPr>
        <p:spPr>
          <a:xfrm>
            <a:off x="11049000" y="6448425"/>
            <a:ext cx="476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8B8D0"/>
                </a:solidFill>
              </a:rPr>
              <a:t>6</a:t>
            </a:r>
            <a:endParaRPr/>
          </a:p>
        </p:txBody>
      </p:sp>
      <p:pic>
        <p:nvPicPr>
          <p:cNvPr id="288" name="Google Shape;2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50" y="1971675"/>
            <a:ext cx="733425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3"/>
          <p:cNvSpPr/>
          <p:nvPr/>
        </p:nvSpPr>
        <p:spPr>
          <a:xfrm>
            <a:off x="8096250" y="2095500"/>
            <a:ext cx="328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6F9FF"/>
                </a:solidFill>
              </a:rPr>
              <a:t>Two CNOTs record the parity</a:t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8096250" y="4591050"/>
            <a:ext cx="34004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25">
                <a:solidFill>
                  <a:srgbClr val="FFCA83"/>
                </a:solidFill>
              </a:rPr>
              <a:t>85.7% of attempts accepted</a:t>
            </a:r>
            <a:endParaRPr b="1" sz="1725">
              <a:solidFill>
                <a:srgbClr val="FFCA8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25">
              <a:solidFill>
                <a:srgbClr val="FFCA8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25">
                <a:solidFill>
                  <a:srgbClr val="FFCA83"/>
                </a:solidFill>
              </a:rPr>
              <a:t>7 → 17.5 CNOTs per accepted result</a:t>
            </a:r>
            <a:endParaRPr b="1" sz="1725">
              <a:solidFill>
                <a:srgbClr val="FFCA8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25">
              <a:solidFill>
                <a:srgbClr val="FFCA83"/>
              </a:solidFill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666750" y="5695950"/>
            <a:ext cx="106203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A8B8D0"/>
                </a:solidFill>
              </a:rPr>
              <a:t>A phase error can still pass this check. Equal Z bits are only part of the Bell-state test.</a:t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8096250" y="2924175"/>
            <a:ext cx="647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6F9FF"/>
                </a:solidFill>
              </a:rPr>
              <a:t>A</a:t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8096250" y="3257550"/>
            <a:ext cx="647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6F9FF"/>
                </a:solidFill>
              </a:rPr>
              <a:t>B</a:t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8096250" y="3695700"/>
            <a:ext cx="8096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6F9FF"/>
                </a:solidFill>
              </a:rPr>
              <a:t>m |0⟩</a:t>
            </a:r>
            <a:endParaRPr/>
          </a:p>
        </p:txBody>
      </p:sp>
      <p:cxnSp>
        <p:nvCxnSpPr>
          <p:cNvPr id="295" name="Google Shape;295;p13"/>
          <p:cNvCxnSpPr/>
          <p:nvPr/>
        </p:nvCxnSpPr>
        <p:spPr>
          <a:xfrm>
            <a:off x="8953500" y="3048000"/>
            <a:ext cx="2457450" cy="0"/>
          </a:xfrm>
          <a:prstGeom prst="straightConnector1">
            <a:avLst/>
          </a:prstGeom>
          <a:noFill/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13"/>
          <p:cNvCxnSpPr/>
          <p:nvPr/>
        </p:nvCxnSpPr>
        <p:spPr>
          <a:xfrm>
            <a:off x="8953500" y="3381375"/>
            <a:ext cx="2457450" cy="0"/>
          </a:xfrm>
          <a:prstGeom prst="straightConnector1">
            <a:avLst/>
          </a:prstGeom>
          <a:noFill/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13"/>
          <p:cNvCxnSpPr/>
          <p:nvPr/>
        </p:nvCxnSpPr>
        <p:spPr>
          <a:xfrm>
            <a:off x="8953500" y="3819525"/>
            <a:ext cx="2457450" cy="0"/>
          </a:xfrm>
          <a:prstGeom prst="straightConnector1">
            <a:avLst/>
          </a:prstGeom>
          <a:noFill/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13"/>
          <p:cNvCxnSpPr/>
          <p:nvPr/>
        </p:nvCxnSpPr>
        <p:spPr>
          <a:xfrm>
            <a:off x="9258300" y="3048000"/>
            <a:ext cx="0" cy="771525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3"/>
          <p:cNvSpPr/>
          <p:nvPr/>
        </p:nvSpPr>
        <p:spPr>
          <a:xfrm>
            <a:off x="9220200" y="3009900"/>
            <a:ext cx="76200" cy="76200"/>
          </a:xfrm>
          <a:prstGeom prst="ellipse">
            <a:avLst/>
          </a:prstGeom>
          <a:solidFill>
            <a:srgbClr val="BAA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9124950" y="3657600"/>
            <a:ext cx="285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BAA0FF"/>
                </a:solidFill>
              </a:rPr>
              <a:t>⊕</a:t>
            </a:r>
            <a:endParaRPr/>
          </a:p>
        </p:txBody>
      </p:sp>
      <p:cxnSp>
        <p:nvCxnSpPr>
          <p:cNvPr id="301" name="Google Shape;301;p13"/>
          <p:cNvCxnSpPr/>
          <p:nvPr/>
        </p:nvCxnSpPr>
        <p:spPr>
          <a:xfrm>
            <a:off x="9906000" y="3381375"/>
            <a:ext cx="0" cy="43815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13"/>
          <p:cNvSpPr/>
          <p:nvPr/>
        </p:nvSpPr>
        <p:spPr>
          <a:xfrm>
            <a:off x="9867900" y="3343275"/>
            <a:ext cx="76200" cy="76200"/>
          </a:xfrm>
          <a:prstGeom prst="ellipse">
            <a:avLst/>
          </a:prstGeom>
          <a:solidFill>
            <a:srgbClr val="BAA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9772650" y="3657600"/>
            <a:ext cx="285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BAA0FF"/>
                </a:solidFill>
              </a:rPr>
              <a:t>⊕</a:t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10734675" y="3648075"/>
            <a:ext cx="342900" cy="342900"/>
          </a:xfrm>
          <a:prstGeom prst="rect">
            <a:avLst/>
          </a:prstGeom>
          <a:solidFill>
            <a:srgbClr val="0A1020"/>
          </a:solidFill>
          <a:ln cap="flat" cmpd="sng" w="14275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10791825" y="3686175"/>
            <a:ext cx="2571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A8B8D0"/>
                </a:solidFill>
              </a:rPr>
              <a:t>M</a:t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8096250" y="4124325"/>
            <a:ext cx="34004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8B8D0"/>
                </a:solidFill>
              </a:rPr>
              <a:t>Logical check; hardware routing adds SWAPs.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20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6F9FF"/>
                </a:solidFill>
              </a:rPr>
              <a:t>Level 4 connects the endpoints by measuring the middle</a:t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628650" y="1304925"/>
            <a:ext cx="10896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A8B8D0"/>
                </a:solidFill>
              </a:rPr>
              <a:t>Build a superposition of 0000 and 1111. Measure the middle, then correct the endpoint sign.</a:t>
            </a:r>
            <a:endParaRPr/>
          </a:p>
        </p:txBody>
      </p:sp>
      <p:cxnSp>
        <p:nvCxnSpPr>
          <p:cNvPr id="315" name="Google Shape;315;p14"/>
          <p:cNvCxnSpPr/>
          <p:nvPr/>
        </p:nvCxnSpPr>
        <p:spPr>
          <a:xfrm>
            <a:off x="628650" y="6305550"/>
            <a:ext cx="10896600" cy="0"/>
          </a:xfrm>
          <a:prstGeom prst="straightConnector1">
            <a:avLst/>
          </a:prstGeom>
          <a:noFill/>
          <a:ln cap="flat" cmpd="sng" w="95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4"/>
          <p:cNvSpPr/>
          <p:nvPr/>
        </p:nvSpPr>
        <p:spPr>
          <a:xfrm>
            <a:off x="11049000" y="6448425"/>
            <a:ext cx="476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8B8D0"/>
                </a:solidFill>
              </a:rPr>
              <a:t>7</a:t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733425" y="2009775"/>
            <a:ext cx="762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6F9FF"/>
                </a:solidFill>
              </a:rPr>
              <a:t>q0</a:t>
            </a:r>
            <a:endParaRPr/>
          </a:p>
        </p:txBody>
      </p:sp>
      <p:cxnSp>
        <p:nvCxnSpPr>
          <p:cNvPr id="318" name="Google Shape;318;p14"/>
          <p:cNvCxnSpPr/>
          <p:nvPr/>
        </p:nvCxnSpPr>
        <p:spPr>
          <a:xfrm>
            <a:off x="1571625" y="2171700"/>
            <a:ext cx="6810375" cy="0"/>
          </a:xfrm>
          <a:prstGeom prst="straightConnector1">
            <a:avLst/>
          </a:prstGeom>
          <a:noFill/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4"/>
          <p:cNvSpPr/>
          <p:nvPr/>
        </p:nvSpPr>
        <p:spPr>
          <a:xfrm>
            <a:off x="733425" y="2676525"/>
            <a:ext cx="762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6F9FF"/>
                </a:solidFill>
              </a:rPr>
              <a:t>q1</a:t>
            </a:r>
            <a:endParaRPr/>
          </a:p>
        </p:txBody>
      </p:sp>
      <p:cxnSp>
        <p:nvCxnSpPr>
          <p:cNvPr id="320" name="Google Shape;320;p14"/>
          <p:cNvCxnSpPr/>
          <p:nvPr/>
        </p:nvCxnSpPr>
        <p:spPr>
          <a:xfrm>
            <a:off x="1571625" y="2838450"/>
            <a:ext cx="6810375" cy="0"/>
          </a:xfrm>
          <a:prstGeom prst="straightConnector1">
            <a:avLst/>
          </a:prstGeom>
          <a:noFill/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4"/>
          <p:cNvSpPr/>
          <p:nvPr/>
        </p:nvSpPr>
        <p:spPr>
          <a:xfrm>
            <a:off x="733425" y="3343275"/>
            <a:ext cx="762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6F9FF"/>
                </a:solidFill>
              </a:rPr>
              <a:t>q2</a:t>
            </a:r>
            <a:endParaRPr/>
          </a:p>
        </p:txBody>
      </p:sp>
      <p:cxnSp>
        <p:nvCxnSpPr>
          <p:cNvPr id="322" name="Google Shape;322;p14"/>
          <p:cNvCxnSpPr/>
          <p:nvPr/>
        </p:nvCxnSpPr>
        <p:spPr>
          <a:xfrm>
            <a:off x="1571625" y="3505200"/>
            <a:ext cx="6810375" cy="0"/>
          </a:xfrm>
          <a:prstGeom prst="straightConnector1">
            <a:avLst/>
          </a:prstGeom>
          <a:noFill/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4"/>
          <p:cNvSpPr/>
          <p:nvPr/>
        </p:nvSpPr>
        <p:spPr>
          <a:xfrm>
            <a:off x="733425" y="4010025"/>
            <a:ext cx="762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6F9FF"/>
                </a:solidFill>
              </a:rPr>
              <a:t>q3</a:t>
            </a:r>
            <a:endParaRPr/>
          </a:p>
        </p:txBody>
      </p:sp>
      <p:cxnSp>
        <p:nvCxnSpPr>
          <p:cNvPr id="324" name="Google Shape;324;p14"/>
          <p:cNvCxnSpPr/>
          <p:nvPr/>
        </p:nvCxnSpPr>
        <p:spPr>
          <a:xfrm>
            <a:off x="1571625" y="4171950"/>
            <a:ext cx="6810375" cy="0"/>
          </a:xfrm>
          <a:prstGeom prst="straightConnector1">
            <a:avLst/>
          </a:prstGeom>
          <a:noFill/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14"/>
          <p:cNvSpPr/>
          <p:nvPr/>
        </p:nvSpPr>
        <p:spPr>
          <a:xfrm>
            <a:off x="1981200" y="2638425"/>
            <a:ext cx="457200" cy="400050"/>
          </a:xfrm>
          <a:prstGeom prst="rect">
            <a:avLst/>
          </a:prstGeom>
          <a:solidFill>
            <a:srgbClr val="0A1020"/>
          </a:solidFill>
          <a:ln cap="flat" cmpd="sng" w="19050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1981200" y="2695575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54D3E7"/>
                </a:solidFill>
              </a:rPr>
              <a:t>H</a:t>
            </a:r>
            <a:endParaRPr/>
          </a:p>
        </p:txBody>
      </p:sp>
      <p:cxnSp>
        <p:nvCxnSpPr>
          <p:cNvPr id="327" name="Google Shape;327;p14"/>
          <p:cNvCxnSpPr/>
          <p:nvPr/>
        </p:nvCxnSpPr>
        <p:spPr>
          <a:xfrm rot="5400000">
            <a:off x="2733675" y="3171825"/>
            <a:ext cx="66675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14"/>
          <p:cNvSpPr/>
          <p:nvPr/>
        </p:nvSpPr>
        <p:spPr>
          <a:xfrm>
            <a:off x="3019425" y="2790825"/>
            <a:ext cx="95250" cy="95250"/>
          </a:xfrm>
          <a:prstGeom prst="ellipse">
            <a:avLst/>
          </a:prstGeom>
          <a:solidFill>
            <a:srgbClr val="BAA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2952750" y="3390900"/>
            <a:ext cx="228600" cy="228600"/>
          </a:xfrm>
          <a:prstGeom prst="ellipse">
            <a:avLst/>
          </a:prstGeom>
          <a:solidFill>
            <a:srgbClr val="0A1020"/>
          </a:solidFill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0" name="Google Shape;330;p14"/>
          <p:cNvCxnSpPr/>
          <p:nvPr/>
        </p:nvCxnSpPr>
        <p:spPr>
          <a:xfrm>
            <a:off x="2990850" y="35052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14"/>
          <p:cNvCxnSpPr/>
          <p:nvPr/>
        </p:nvCxnSpPr>
        <p:spPr>
          <a:xfrm rot="5400000">
            <a:off x="2990850" y="35052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14"/>
          <p:cNvCxnSpPr/>
          <p:nvPr/>
        </p:nvCxnSpPr>
        <p:spPr>
          <a:xfrm rot="-5400000">
            <a:off x="3667125" y="2505075"/>
            <a:ext cx="66675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14"/>
          <p:cNvSpPr/>
          <p:nvPr/>
        </p:nvSpPr>
        <p:spPr>
          <a:xfrm>
            <a:off x="3952875" y="2790825"/>
            <a:ext cx="95250" cy="95250"/>
          </a:xfrm>
          <a:prstGeom prst="ellipse">
            <a:avLst/>
          </a:prstGeom>
          <a:solidFill>
            <a:srgbClr val="BAA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3886200" y="2057400"/>
            <a:ext cx="228600" cy="228600"/>
          </a:xfrm>
          <a:prstGeom prst="ellipse">
            <a:avLst/>
          </a:prstGeom>
          <a:solidFill>
            <a:srgbClr val="0A1020"/>
          </a:solidFill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5" name="Google Shape;335;p14"/>
          <p:cNvCxnSpPr/>
          <p:nvPr/>
        </p:nvCxnSpPr>
        <p:spPr>
          <a:xfrm>
            <a:off x="3924300" y="21717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14"/>
          <p:cNvCxnSpPr/>
          <p:nvPr/>
        </p:nvCxnSpPr>
        <p:spPr>
          <a:xfrm rot="5400000">
            <a:off x="3924300" y="21717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14"/>
          <p:cNvCxnSpPr/>
          <p:nvPr/>
        </p:nvCxnSpPr>
        <p:spPr>
          <a:xfrm rot="5400000">
            <a:off x="4581525" y="3838575"/>
            <a:ext cx="66675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14"/>
          <p:cNvSpPr/>
          <p:nvPr/>
        </p:nvSpPr>
        <p:spPr>
          <a:xfrm>
            <a:off x="4867275" y="3457575"/>
            <a:ext cx="95250" cy="95250"/>
          </a:xfrm>
          <a:prstGeom prst="ellipse">
            <a:avLst/>
          </a:prstGeom>
          <a:solidFill>
            <a:srgbClr val="BAA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4800600" y="4057650"/>
            <a:ext cx="228600" cy="228600"/>
          </a:xfrm>
          <a:prstGeom prst="ellipse">
            <a:avLst/>
          </a:prstGeom>
          <a:solidFill>
            <a:srgbClr val="0A1020"/>
          </a:solidFill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0" name="Google Shape;340;p14"/>
          <p:cNvCxnSpPr/>
          <p:nvPr/>
        </p:nvCxnSpPr>
        <p:spPr>
          <a:xfrm>
            <a:off x="4838700" y="417195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14"/>
          <p:cNvCxnSpPr/>
          <p:nvPr/>
        </p:nvCxnSpPr>
        <p:spPr>
          <a:xfrm rot="5400000">
            <a:off x="4838700" y="417195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BAA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14"/>
          <p:cNvSpPr/>
          <p:nvPr/>
        </p:nvSpPr>
        <p:spPr>
          <a:xfrm>
            <a:off x="5695950" y="2638425"/>
            <a:ext cx="457200" cy="400050"/>
          </a:xfrm>
          <a:prstGeom prst="rect">
            <a:avLst/>
          </a:prstGeom>
          <a:solidFill>
            <a:srgbClr val="0A1020"/>
          </a:solidFill>
          <a:ln cap="flat" cmpd="sng" w="19050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5695950" y="2695575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54D3E7"/>
                </a:solidFill>
              </a:rPr>
              <a:t>H</a:t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5695950" y="3305175"/>
            <a:ext cx="457200" cy="400050"/>
          </a:xfrm>
          <a:prstGeom prst="rect">
            <a:avLst/>
          </a:prstGeom>
          <a:solidFill>
            <a:srgbClr val="0A1020"/>
          </a:solidFill>
          <a:ln cap="flat" cmpd="sng" w="19050">
            <a:solidFill>
              <a:srgbClr val="54D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5695950" y="3362325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54D3E7"/>
                </a:solidFill>
              </a:rPr>
              <a:t>H</a:t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6591300" y="2638425"/>
            <a:ext cx="381000" cy="400050"/>
          </a:xfrm>
          <a:prstGeom prst="rect">
            <a:avLst/>
          </a:prstGeom>
          <a:solidFill>
            <a:srgbClr val="0A1020"/>
          </a:solidFill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6591300" y="2695575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A8B8D0"/>
                </a:solidFill>
              </a:rPr>
              <a:t>M</a:t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6591300" y="3305175"/>
            <a:ext cx="381000" cy="400050"/>
          </a:xfrm>
          <a:prstGeom prst="rect">
            <a:avLst/>
          </a:prstGeom>
          <a:solidFill>
            <a:srgbClr val="0A1020"/>
          </a:solidFill>
          <a:ln cap="flat" cmpd="sng" w="19050">
            <a:solidFill>
              <a:srgbClr val="A8B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6591300" y="3362325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A8B8D0"/>
                </a:solidFill>
              </a:rPr>
              <a:t>M</a:t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7577138" y="1971675"/>
            <a:ext cx="523875" cy="400050"/>
          </a:xfrm>
          <a:prstGeom prst="rect">
            <a:avLst/>
          </a:prstGeom>
          <a:solidFill>
            <a:srgbClr val="0A1020"/>
          </a:solidFill>
          <a:ln cap="flat" cmpd="sng" w="19050">
            <a:solidFill>
              <a:srgbClr val="FFCA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7577138" y="2028825"/>
            <a:ext cx="523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CA83"/>
                </a:solidFill>
              </a:rPr>
              <a:t>Z*</a:t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8905875" y="2114550"/>
            <a:ext cx="2571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54D3E7"/>
                </a:solidFill>
              </a:rPr>
              <a:t>3 CNOTs</a:t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8905875" y="2857500"/>
            <a:ext cx="2571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54D3E7"/>
                </a:solidFill>
              </a:rPr>
              <a:t>All attempts kept</a:t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8905875" y="3905250"/>
            <a:ext cx="261937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6F9FF"/>
                </a:solidFill>
              </a:rPr>
              <a:t>H then M measures X.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6F9FF"/>
                </a:solidFill>
              </a:rPr>
              <a:t>*Apply Z if the two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6F9FF"/>
                </a:solidFill>
              </a:rPr>
              <a:t>reported bits differ.</a:t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723900" y="5295900"/>
            <a:ext cx="10572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6F9FF"/>
                </a:solidFill>
              </a:rPr>
              <a:t>00 or 11 → no phase correction       01 or 10 → apply Z</a:t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723900" y="5781675"/>
            <a:ext cx="105727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A8B8D0"/>
                </a:solidFill>
              </a:rPr>
              <a:t>Z fixes a possible minus sign between the Bell-state terms, 00 and 11.</a:t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723900" y="4676775"/>
            <a:ext cx="7715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D3E7"/>
                </a:solidFill>
              </a:rPr>
              <a:t>Shared four-qubit state → two-qubit Bell pair</a:t>
            </a:r>
            <a:endParaRPr/>
          </a:p>
        </p:txBody>
      </p:sp>
      <p:cxnSp>
        <p:nvCxnSpPr>
          <p:cNvPr id="358" name="Google Shape;358;p14"/>
          <p:cNvCxnSpPr/>
          <p:nvPr/>
        </p:nvCxnSpPr>
        <p:spPr>
          <a:xfrm>
            <a:off x="6991350" y="2838450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FFCA8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9" name="Google Shape;359;p14"/>
          <p:cNvCxnSpPr/>
          <p:nvPr/>
        </p:nvCxnSpPr>
        <p:spPr>
          <a:xfrm>
            <a:off x="6991350" y="3505200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FFCA8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0" name="Google Shape;360;p14"/>
          <p:cNvCxnSpPr/>
          <p:nvPr/>
        </p:nvCxnSpPr>
        <p:spPr>
          <a:xfrm>
            <a:off x="7372350" y="2305050"/>
            <a:ext cx="0" cy="1200150"/>
          </a:xfrm>
          <a:prstGeom prst="straightConnector1">
            <a:avLst/>
          </a:prstGeom>
          <a:noFill/>
          <a:ln cap="flat" cmpd="sng" w="19050">
            <a:solidFill>
              <a:srgbClr val="FFCA8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1" name="Google Shape;361;p14"/>
          <p:cNvCxnSpPr/>
          <p:nvPr/>
        </p:nvCxnSpPr>
        <p:spPr>
          <a:xfrm>
            <a:off x="7372350" y="2305050"/>
            <a:ext cx="209550" cy="0"/>
          </a:xfrm>
          <a:prstGeom prst="straightConnector1">
            <a:avLst/>
          </a:prstGeom>
          <a:noFill/>
          <a:ln cap="flat" cmpd="sng" w="19050">
            <a:solidFill>
              <a:srgbClr val="FFCA8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62" name="Google Shape;362;p14"/>
          <p:cNvSpPr/>
          <p:nvPr/>
        </p:nvSpPr>
        <p:spPr>
          <a:xfrm>
            <a:off x="7239000" y="3714750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FCA83"/>
                </a:solidFill>
              </a:rPr>
              <a:t>reported bits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20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6F9FF"/>
                </a:solidFill>
              </a:rPr>
              <a:t>Fewer gates help on both synthetic routes</a:t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628650" y="1304925"/>
            <a:ext cx="10896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A8B8D0"/>
                </a:solidFill>
              </a:rPr>
              <a:t>Corrected GHZ keeps every attempt. The IBM result stays about the same despite the large gate saving.</a:t>
            </a:r>
            <a:endParaRPr/>
          </a:p>
        </p:txBody>
      </p:sp>
      <p:cxnSp>
        <p:nvCxnSpPr>
          <p:cNvPr id="371" name="Google Shape;371;p15"/>
          <p:cNvCxnSpPr/>
          <p:nvPr/>
        </p:nvCxnSpPr>
        <p:spPr>
          <a:xfrm>
            <a:off x="628650" y="6305550"/>
            <a:ext cx="10896600" cy="0"/>
          </a:xfrm>
          <a:prstGeom prst="straightConnector1">
            <a:avLst/>
          </a:prstGeom>
          <a:noFill/>
          <a:ln cap="flat" cmpd="sng" w="95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15"/>
          <p:cNvSpPr/>
          <p:nvPr/>
        </p:nvSpPr>
        <p:spPr>
          <a:xfrm>
            <a:off x="11049000" y="6448425"/>
            <a:ext cx="476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8B8D0"/>
                </a:solidFill>
              </a:rPr>
              <a:t>8</a:t>
            </a:r>
            <a:endParaRPr/>
          </a:p>
        </p:txBody>
      </p:sp>
      <p:pic>
        <p:nvPicPr>
          <p:cNvPr id="373" name="Google Shape;3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" y="1933575"/>
            <a:ext cx="10953750" cy="3190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4" name="Google Shape;374;p15"/>
          <p:cNvGraphicFramePr/>
          <p:nvPr/>
        </p:nvGraphicFramePr>
        <p:xfrm>
          <a:off x="904875" y="538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{83320FF5-F463-42F3-8CA8-52FD15076B27}</a:tableStyleId>
              </a:tblPr>
              <a:tblGrid>
                <a:gridCol w="3095625"/>
                <a:gridCol w="2333625"/>
                <a:gridCol w="2333625"/>
                <a:gridCol w="2524125"/>
              </a:tblGrid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1" lang="en-US" sz="1650">
                          <a:solidFill>
                            <a:srgbClr val="F6F9FF"/>
                          </a:solidFill>
                        </a:rPr>
                        <a:t>CNOTs / attempt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1" lang="en-US" sz="1650">
                          <a:solidFill>
                            <a:srgbClr val="F6F9FF"/>
                          </a:solidFill>
                        </a:rPr>
                        <a:t>Reference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1" lang="en-US" sz="1650">
                          <a:solidFill>
                            <a:srgbClr val="F6F9FF"/>
                          </a:solidFill>
                        </a:rPr>
                        <a:t>IBM snapshot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1" lang="en-US" sz="1650">
                          <a:solidFill>
                            <a:srgbClr val="F6F9FF"/>
                          </a:solidFill>
                        </a:rPr>
                        <a:t>Hyperbolic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SWAP → GHZ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7 → 3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16 → 6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19 → 7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20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6F9FF"/>
                </a:solidFill>
              </a:rPr>
              <a:t>IBM readout errors offset the saving in gates</a:t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628650" y="1304925"/>
            <a:ext cx="10896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A8B8D0"/>
                </a:solidFill>
              </a:rPr>
              <a:t>We reran the same circuits while turning noise components on separately.</a:t>
            </a:r>
            <a:endParaRPr/>
          </a:p>
        </p:txBody>
      </p:sp>
      <p:cxnSp>
        <p:nvCxnSpPr>
          <p:cNvPr id="383" name="Google Shape;383;p16"/>
          <p:cNvCxnSpPr/>
          <p:nvPr/>
        </p:nvCxnSpPr>
        <p:spPr>
          <a:xfrm>
            <a:off x="628650" y="6305550"/>
            <a:ext cx="10896600" cy="0"/>
          </a:xfrm>
          <a:prstGeom prst="straightConnector1">
            <a:avLst/>
          </a:prstGeom>
          <a:noFill/>
          <a:ln cap="flat" cmpd="sng" w="95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6"/>
          <p:cNvSpPr/>
          <p:nvPr/>
        </p:nvSpPr>
        <p:spPr>
          <a:xfrm>
            <a:off x="11049000" y="6448425"/>
            <a:ext cx="476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8B8D0"/>
                </a:solidFill>
              </a:rPr>
              <a:t>9</a:t>
            </a:r>
            <a:endParaRPr/>
          </a:p>
        </p:txBody>
      </p:sp>
      <p:pic>
        <p:nvPicPr>
          <p:cNvPr id="385" name="Google Shape;3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24050"/>
            <a:ext cx="1095375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6"/>
          <p:cNvSpPr/>
          <p:nvPr/>
        </p:nvSpPr>
        <p:spPr>
          <a:xfrm>
            <a:off x="723900" y="5572125"/>
            <a:ext cx="105727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6F9FF"/>
                </a:solidFill>
              </a:rPr>
              <a:t>GHZ saves noisy gates, but it relies on correctly reading the middle qubits.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20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7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6F9FF"/>
                </a:solidFill>
              </a:rPr>
              <a:t>Level 5 keeps attempts where neighboring data qubits agree</a:t>
            </a:r>
            <a:endParaRPr/>
          </a:p>
        </p:txBody>
      </p:sp>
      <p:sp>
        <p:nvSpPr>
          <p:cNvPr id="394" name="Google Shape;394;p17"/>
          <p:cNvSpPr/>
          <p:nvPr/>
        </p:nvSpPr>
        <p:spPr>
          <a:xfrm>
            <a:off x="628650" y="1304925"/>
            <a:ext cx="10896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A8B8D0"/>
                </a:solidFill>
              </a:rPr>
              <a:t>Spread one Bell half across neighboring data qubits. Check agreement, then decode it back to one output.</a:t>
            </a:r>
            <a:endParaRPr/>
          </a:p>
        </p:txBody>
      </p:sp>
      <p:cxnSp>
        <p:nvCxnSpPr>
          <p:cNvPr id="395" name="Google Shape;395;p17"/>
          <p:cNvCxnSpPr/>
          <p:nvPr/>
        </p:nvCxnSpPr>
        <p:spPr>
          <a:xfrm>
            <a:off x="628650" y="6305550"/>
            <a:ext cx="10896600" cy="0"/>
          </a:xfrm>
          <a:prstGeom prst="straightConnector1">
            <a:avLst/>
          </a:prstGeom>
          <a:noFill/>
          <a:ln cap="flat" cmpd="sng" w="95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17"/>
          <p:cNvSpPr/>
          <p:nvPr/>
        </p:nvSpPr>
        <p:spPr>
          <a:xfrm>
            <a:off x="11049000" y="6448425"/>
            <a:ext cx="476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8B8D0"/>
                </a:solidFill>
              </a:rPr>
              <a:t>10</a:t>
            </a:r>
            <a:endParaRPr/>
          </a:p>
        </p:txBody>
      </p:sp>
      <p:graphicFrame>
        <p:nvGraphicFramePr>
          <p:cNvPr id="397" name="Google Shape;397;p17"/>
          <p:cNvGraphicFramePr/>
          <p:nvPr/>
        </p:nvGraphicFramePr>
        <p:xfrm>
          <a:off x="647700" y="271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{83320FF5-F463-42F3-8CA8-52FD15076B27}</a:tableStyleId>
              </a:tblPr>
              <a:tblGrid>
                <a:gridCol w="3048000"/>
                <a:gridCol w="3190875"/>
                <a:gridCol w="4638675"/>
              </a:tblGrid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1" lang="en-US" sz="1650">
                          <a:solidFill>
                            <a:srgbClr val="F6F9FF"/>
                          </a:solidFill>
                        </a:rPr>
                        <a:t>Expected out of 1,000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1" lang="en-US" sz="1650">
                          <a:solidFill>
                            <a:srgbClr val="F6F9FF"/>
                          </a:solidFill>
                        </a:rPr>
                        <a:t>Data pattern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1" lang="en-US" sz="1650">
                          <a:solidFill>
                            <a:srgbClr val="F6F9FF"/>
                          </a:solidFill>
                        </a:rPr>
                        <a:t>Check result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512: no bit flips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000 and 111 remain linked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Keep: desired Bell pair after decoding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151F3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480: some bits flip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Neighbor disagreement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Reject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A102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8: all three flip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All still agree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Keep: bit-flipped Bell pair after decoding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</a:tr>
            </a:tbl>
          </a:graphicData>
        </a:graphic>
      </p:graphicFrame>
      <p:sp>
        <p:nvSpPr>
          <p:cNvPr id="398" name="Google Shape;398;p17"/>
          <p:cNvSpPr/>
          <p:nvPr/>
        </p:nvSpPr>
        <p:spPr>
          <a:xfrm>
            <a:off x="762000" y="4819650"/>
            <a:ext cx="10572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8B8D0"/>
                </a:solidFill>
              </a:rPr>
              <a:t>Each of the three data qubits has an independent 20% chance of a storage bit flip.</a:t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>
            <a:off x="762000" y="5219700"/>
            <a:ext cx="4572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54D3E7"/>
                </a:solidFill>
              </a:rPr>
              <a:t>520 kept attempts</a:t>
            </a:r>
            <a:endParaRPr/>
          </a:p>
        </p:txBody>
      </p:sp>
      <p:sp>
        <p:nvSpPr>
          <p:cNvPr id="400" name="Google Shape;400;p17"/>
          <p:cNvSpPr/>
          <p:nvPr/>
        </p:nvSpPr>
        <p:spPr>
          <a:xfrm>
            <a:off x="5905500" y="5219700"/>
            <a:ext cx="53816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54D3E7"/>
                </a:solidFill>
              </a:rPr>
              <a:t>512 / 520 = 0.985 fidelity</a:t>
            </a:r>
            <a:endParaRPr/>
          </a:p>
        </p:txBody>
      </p:sp>
      <p:sp>
        <p:nvSpPr>
          <p:cNvPr id="401" name="Google Shape;401;p17"/>
          <p:cNvSpPr/>
          <p:nvPr/>
        </p:nvSpPr>
        <p:spPr>
          <a:xfrm>
            <a:off x="762000" y="5857875"/>
            <a:ext cx="10572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F6F9FF"/>
                </a:solidFill>
              </a:rPr>
              <a:t>A group that agrees is much more likely to have no flips than to have every bit flipped.</a:t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742950" y="1924050"/>
            <a:ext cx="142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54D3E7"/>
                </a:solidFill>
              </a:rPr>
              <a:t>Encode</a:t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742950" y="2295525"/>
            <a:ext cx="3381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6F9FF"/>
                </a:solidFill>
              </a:rPr>
              <a:t>one data qubit → three</a:t>
            </a:r>
            <a:endParaRPr/>
          </a:p>
        </p:txBody>
      </p:sp>
      <p:sp>
        <p:nvSpPr>
          <p:cNvPr id="404" name="Google Shape;404;p17"/>
          <p:cNvSpPr/>
          <p:nvPr/>
        </p:nvSpPr>
        <p:spPr>
          <a:xfrm>
            <a:off x="4552950" y="1924050"/>
            <a:ext cx="2857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54D3E7"/>
                </a:solidFill>
              </a:rPr>
              <a:t>Check neighbors</a:t>
            </a:r>
            <a:endParaRPr/>
          </a:p>
        </p:txBody>
      </p:sp>
      <p:sp>
        <p:nvSpPr>
          <p:cNvPr id="405" name="Google Shape;405;p17"/>
          <p:cNvSpPr/>
          <p:nvPr/>
        </p:nvSpPr>
        <p:spPr>
          <a:xfrm>
            <a:off x="4552950" y="2295525"/>
            <a:ext cx="314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6F9FF"/>
                </a:solidFill>
              </a:rPr>
              <a:t>same / different</a:t>
            </a:r>
            <a:endParaRPr/>
          </a:p>
        </p:txBody>
      </p:sp>
      <p:sp>
        <p:nvSpPr>
          <p:cNvPr id="406" name="Google Shape;406;p17"/>
          <p:cNvSpPr/>
          <p:nvPr/>
        </p:nvSpPr>
        <p:spPr>
          <a:xfrm>
            <a:off x="8429625" y="1924050"/>
            <a:ext cx="2381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54D3E7"/>
                </a:solidFill>
              </a:rPr>
              <a:t>Decode</a:t>
            </a: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8429625" y="2295525"/>
            <a:ext cx="3095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6F9FF"/>
                </a:solidFill>
              </a:rPr>
              <a:t>three data qubits → one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20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8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6F9FF"/>
                </a:solidFill>
              </a:rPr>
              <a:t>Three data qubits reach the example 0.95 target at lower cost</a:t>
            </a: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628650" y="1304925"/>
            <a:ext cx="10896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A8B8D0"/>
                </a:solidFill>
              </a:rPr>
              <a:t>More data qubits suppress all-flip passes, but add noisy gates and reduce the fraction kept.</a:t>
            </a:r>
            <a:endParaRPr/>
          </a:p>
        </p:txBody>
      </p:sp>
      <p:cxnSp>
        <p:nvCxnSpPr>
          <p:cNvPr id="416" name="Google Shape;416;p18"/>
          <p:cNvCxnSpPr/>
          <p:nvPr/>
        </p:nvCxnSpPr>
        <p:spPr>
          <a:xfrm>
            <a:off x="628650" y="6305550"/>
            <a:ext cx="10896600" cy="0"/>
          </a:xfrm>
          <a:prstGeom prst="straightConnector1">
            <a:avLst/>
          </a:prstGeom>
          <a:noFill/>
          <a:ln cap="flat" cmpd="sng" w="95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18"/>
          <p:cNvSpPr/>
          <p:nvPr/>
        </p:nvSpPr>
        <p:spPr>
          <a:xfrm>
            <a:off x="11049000" y="6448425"/>
            <a:ext cx="476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8B8D0"/>
                </a:solidFill>
              </a:rPr>
              <a:t>11</a:t>
            </a:r>
            <a:endParaRPr/>
          </a:p>
        </p:txBody>
      </p:sp>
      <p:graphicFrame>
        <p:nvGraphicFramePr>
          <p:cNvPr id="418" name="Google Shape;418;p18"/>
          <p:cNvGraphicFramePr/>
          <p:nvPr/>
        </p:nvGraphicFramePr>
        <p:xfrm>
          <a:off x="657225" y="211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{83320FF5-F463-42F3-8CA8-52FD15076B27}</a:tableStyleId>
              </a:tblPr>
              <a:tblGrid>
                <a:gridCol w="1809750"/>
                <a:gridCol w="4572000"/>
                <a:gridCol w="1619250"/>
                <a:gridCol w="2857500"/>
              </a:tblGrid>
              <a:tr h="43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1" lang="en-US" sz="1650">
                          <a:solidFill>
                            <a:srgbClr val="F6F9FF"/>
                          </a:solidFill>
                        </a:rPr>
                        <a:t>Data qubits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1" lang="en-US" sz="1650">
                          <a:solidFill>
                            <a:srgbClr val="F6F9FF"/>
                          </a:solidFill>
                        </a:rPr>
                        <a:t>Fidelity [95% interval]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1" lang="en-US" sz="1650">
                          <a:solidFill>
                            <a:srgbClr val="F6F9FF"/>
                          </a:solidFill>
                        </a:rPr>
                        <a:t>Kept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1" lang="en-US" sz="1650">
                          <a:solidFill>
                            <a:srgbClr val="F6F9FF"/>
                          </a:solidFill>
                        </a:rPr>
                        <a:t>CNOTs / kept shot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B2A42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0.794 [0.788, 0.800]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100.0%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1.00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151F3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0.929 [0.924, 0.933]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67.7%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7.38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A102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0.972 [0.968, 0.975]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51.7%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17.42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151F3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7 (path)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0.978 [0.973, 0.983]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20.5%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122.00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A102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7 (closed cycle)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0.975 [0.970, 0.980]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20.8%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9FF"/>
                        </a:buClr>
                        <a:buSzPts val="1650"/>
                        <a:buFont typeface="Inter"/>
                        <a:buNone/>
                      </a:pPr>
                      <a:r>
                        <a:rPr b="0" lang="en-US" sz="1650">
                          <a:solidFill>
                            <a:srgbClr val="F6F9FF"/>
                          </a:solidFill>
                        </a:rPr>
                        <a:t>129.78</a:t>
                      </a:r>
                      <a:endParaRPr/>
                    </a:p>
                  </a:txBody>
                  <a:tcPr marT="45725" marB="45725" marR="91450" marL="91450">
                    <a:lnR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3144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F31"/>
                    </a:solidFill>
                  </a:tcPr>
                </a:tc>
              </a:tr>
            </a:tbl>
          </a:graphicData>
        </a:graphic>
      </p:graphicFrame>
      <p:sp>
        <p:nvSpPr>
          <p:cNvPr id="419" name="Google Shape;419;p18"/>
          <p:cNvSpPr/>
          <p:nvPr/>
        </p:nvSpPr>
        <p:spPr>
          <a:xfrm>
            <a:off x="723900" y="4943475"/>
            <a:ext cx="4286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6F9FF"/>
                </a:solidFill>
              </a:rPr>
              <a:t>Independent confirmation</a:t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723900" y="5457825"/>
            <a:ext cx="10572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4D3E7"/>
                </a:solidFill>
              </a:rPr>
              <a:t>F: 0.795 → 0.972     |     51.8% of attempts kept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20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54D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"/>
          <p:cNvSpPr/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6F9FF"/>
                </a:solidFill>
              </a:rPr>
              <a:t>Meet the fidelity target with the least gate work</a:t>
            </a:r>
            <a:endParaRPr/>
          </a:p>
        </p:txBody>
      </p:sp>
      <p:sp>
        <p:nvSpPr>
          <p:cNvPr id="428" name="Google Shape;428;p19"/>
          <p:cNvSpPr/>
          <p:nvPr/>
        </p:nvSpPr>
        <p:spPr>
          <a:xfrm>
            <a:off x="628650" y="1304925"/>
            <a:ext cx="10896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A8B8D0"/>
                </a:solidFill>
              </a:rPr>
              <a:t>Have the cloud compiler choose the protocol using fidelity and the cost of retries.</a:t>
            </a:r>
            <a:endParaRPr/>
          </a:p>
        </p:txBody>
      </p:sp>
      <p:cxnSp>
        <p:nvCxnSpPr>
          <p:cNvPr id="429" name="Google Shape;429;p19"/>
          <p:cNvCxnSpPr/>
          <p:nvPr/>
        </p:nvCxnSpPr>
        <p:spPr>
          <a:xfrm>
            <a:off x="628650" y="6305550"/>
            <a:ext cx="10896600" cy="0"/>
          </a:xfrm>
          <a:prstGeom prst="straightConnector1">
            <a:avLst/>
          </a:prstGeom>
          <a:noFill/>
          <a:ln cap="flat" cmpd="sng" w="9525">
            <a:solidFill>
              <a:srgbClr val="31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19"/>
          <p:cNvSpPr/>
          <p:nvPr/>
        </p:nvSpPr>
        <p:spPr>
          <a:xfrm>
            <a:off x="11049000" y="6448425"/>
            <a:ext cx="476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8B8D0"/>
                </a:solidFill>
              </a:rPr>
              <a:t>12</a:t>
            </a:r>
            <a:endParaRPr/>
          </a:p>
        </p:txBody>
      </p:sp>
      <p:sp>
        <p:nvSpPr>
          <p:cNvPr id="431" name="Google Shape;431;p19"/>
          <p:cNvSpPr/>
          <p:nvPr/>
        </p:nvSpPr>
        <p:spPr>
          <a:xfrm>
            <a:off x="704850" y="2190750"/>
            <a:ext cx="338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54D3E7"/>
                </a:solidFill>
              </a:rPr>
              <a:t>Delivery</a:t>
            </a:r>
            <a:endParaRPr/>
          </a:p>
        </p:txBody>
      </p:sp>
      <p:sp>
        <p:nvSpPr>
          <p:cNvPr id="432" name="Google Shape;432;p19"/>
          <p:cNvSpPr/>
          <p:nvPr/>
        </p:nvSpPr>
        <p:spPr>
          <a:xfrm>
            <a:off x="704850" y="2924175"/>
            <a:ext cx="3381375" cy="25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F6F9FF"/>
                </a:solidFill>
              </a:rPr>
              <a:t>Try corrected GHZ on the synthetic routes.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25">
              <a:solidFill>
                <a:srgbClr val="F6F9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F6F9FF"/>
                </a:solidFill>
              </a:rPr>
              <a:t>It improves fidelity with fewer CNOTs and keeps every attempt.</a:t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>
            <a:off x="4543425" y="2190750"/>
            <a:ext cx="338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54D3E7"/>
                </a:solidFill>
              </a:rPr>
              <a:t>IBM readout</a:t>
            </a:r>
            <a:endParaRPr/>
          </a:p>
        </p:txBody>
      </p:sp>
      <p:sp>
        <p:nvSpPr>
          <p:cNvPr id="434" name="Google Shape;434;p19"/>
          <p:cNvSpPr/>
          <p:nvPr/>
        </p:nvSpPr>
        <p:spPr>
          <a:xfrm>
            <a:off x="4543425" y="2924175"/>
            <a:ext cx="3381375" cy="25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F6F9FF"/>
                </a:solidFill>
              </a:rPr>
              <a:t>Improve intermediate measurements before relying on GHZ’s gate savings.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25">
              <a:solidFill>
                <a:srgbClr val="F6F9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F6F9FF"/>
                </a:solidFill>
              </a:rPr>
              <a:t>A wrong reported bit can select the wrong correction.</a:t>
            </a:r>
            <a:endParaRPr/>
          </a:p>
        </p:txBody>
      </p:sp>
      <p:sp>
        <p:nvSpPr>
          <p:cNvPr id="435" name="Google Shape;435;p19"/>
          <p:cNvSpPr/>
          <p:nvPr/>
        </p:nvSpPr>
        <p:spPr>
          <a:xfrm>
            <a:off x="8401050" y="2190750"/>
            <a:ext cx="3095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54D3E7"/>
                </a:solidFill>
              </a:rPr>
              <a:t>Bit-flip storage</a:t>
            </a:r>
            <a:endParaRPr/>
          </a:p>
        </p:txBody>
      </p:sp>
      <p:sp>
        <p:nvSpPr>
          <p:cNvPr id="436" name="Google Shape;436;p19"/>
          <p:cNvSpPr/>
          <p:nvPr/>
        </p:nvSpPr>
        <p:spPr>
          <a:xfrm>
            <a:off x="8401050" y="2924175"/>
            <a:ext cx="3095625" cy="25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F6F9FF"/>
                </a:solidFill>
              </a:rPr>
              <a:t>For the tested 0.95 target, use three data qubits.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25">
              <a:solidFill>
                <a:srgbClr val="F6F9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F6F9FF"/>
                </a:solidFill>
              </a:rPr>
              <a:t>F ≈ 0.972; keep ≈ 52%; about 17.4 CNOTs per kept shot.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